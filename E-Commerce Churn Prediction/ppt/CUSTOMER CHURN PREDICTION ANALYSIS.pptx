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320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jp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28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1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28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28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34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Relationship Id="rId14" Type="http://schemas.openxmlformats.org/officeDocument/2006/relationships/image" Target="../media/image1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.png"/><Relationship Id="rId21" Type="http://schemas.openxmlformats.org/officeDocument/2006/relationships/image" Target="../media/image154.png"/><Relationship Id="rId7" Type="http://schemas.openxmlformats.org/officeDocument/2006/relationships/image" Target="../media/image14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4.png"/><Relationship Id="rId5" Type="http://schemas.openxmlformats.org/officeDocument/2006/relationships/image" Target="../media/image139.png"/><Relationship Id="rId15" Type="http://schemas.openxmlformats.org/officeDocument/2006/relationships/image" Target="../media/image148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4" Type="http://schemas.openxmlformats.org/officeDocument/2006/relationships/image" Target="../media/image138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18" Type="http://schemas.openxmlformats.org/officeDocument/2006/relationships/image" Target="../media/image170.png"/><Relationship Id="rId26" Type="http://schemas.openxmlformats.org/officeDocument/2006/relationships/image" Target="../media/image178.png"/><Relationship Id="rId3" Type="http://schemas.openxmlformats.org/officeDocument/2006/relationships/image" Target="../media/image1.png"/><Relationship Id="rId21" Type="http://schemas.openxmlformats.org/officeDocument/2006/relationships/image" Target="../media/image173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17" Type="http://schemas.openxmlformats.org/officeDocument/2006/relationships/image" Target="../media/image169.png"/><Relationship Id="rId25" Type="http://schemas.openxmlformats.org/officeDocument/2006/relationships/image" Target="../media/image17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68.png"/><Relationship Id="rId20" Type="http://schemas.openxmlformats.org/officeDocument/2006/relationships/image" Target="../media/image172.png"/><Relationship Id="rId29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24" Type="http://schemas.openxmlformats.org/officeDocument/2006/relationships/image" Target="../media/image176.png"/><Relationship Id="rId5" Type="http://schemas.openxmlformats.org/officeDocument/2006/relationships/image" Target="../media/image157.png"/><Relationship Id="rId15" Type="http://schemas.openxmlformats.org/officeDocument/2006/relationships/image" Target="../media/image167.png"/><Relationship Id="rId23" Type="http://schemas.openxmlformats.org/officeDocument/2006/relationships/image" Target="../media/image175.png"/><Relationship Id="rId28" Type="http://schemas.openxmlformats.org/officeDocument/2006/relationships/image" Target="../media/image180.png"/><Relationship Id="rId10" Type="http://schemas.openxmlformats.org/officeDocument/2006/relationships/image" Target="../media/image162.png"/><Relationship Id="rId19" Type="http://schemas.openxmlformats.org/officeDocument/2006/relationships/image" Target="../media/image171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Relationship Id="rId22" Type="http://schemas.openxmlformats.org/officeDocument/2006/relationships/image" Target="../media/image174.png"/><Relationship Id="rId27" Type="http://schemas.openxmlformats.org/officeDocument/2006/relationships/image" Target="../media/image1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28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image/sheet/a0b69586072fa491a995625661c23830_z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1381125"/>
            <a:ext cx="91440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4524375"/>
            <a:ext cx="853440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800" y="6172200"/>
            <a:ext cx="304800" cy="3048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2130" y="1819275"/>
            <a:ext cx="7627739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CHURN
</a:t>
            </a:r>
            <a:r>
              <a:rPr lang="en-US" sz="5400" b="1" kern="0" spc="-108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ANALYSIS</a:t>
            </a:r>
            <a:endParaRPr lang="en-US" sz="5400" dirty="0"/>
          </a:p>
        </p:txBody>
      </p:sp>
      <p:sp>
        <p:nvSpPr>
          <p:cNvPr id="9" name="Text 1"/>
          <p:cNvSpPr/>
          <p:nvPr/>
        </p:nvSpPr>
        <p:spPr>
          <a:xfrm>
            <a:off x="-933450" y="3419475"/>
            <a:ext cx="14058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i="1" kern="0" spc="4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Data into Retention Strategy</a:t>
            </a:r>
            <a:endParaRPr lang="en-US" sz="2250" dirty="0"/>
          </a:p>
        </p:txBody>
      </p:sp>
      <p:sp>
        <p:nvSpPr>
          <p:cNvPr id="10" name="Text 2"/>
          <p:cNvSpPr/>
          <p:nvPr/>
        </p:nvSpPr>
        <p:spPr>
          <a:xfrm>
            <a:off x="1828800" y="4981575"/>
            <a:ext cx="2539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kern="0" spc="14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1" name="Text 3"/>
          <p:cNvSpPr/>
          <p:nvPr/>
        </p:nvSpPr>
        <p:spPr>
          <a:xfrm>
            <a:off x="1828800" y="5210175"/>
            <a:ext cx="25399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SOURAVDEEP SINGH</a:t>
            </a:r>
          </a:p>
        </p:txBody>
      </p:sp>
      <p:sp>
        <p:nvSpPr>
          <p:cNvPr id="12" name="Text 4"/>
          <p:cNvSpPr/>
          <p:nvPr/>
        </p:nvSpPr>
        <p:spPr>
          <a:xfrm>
            <a:off x="4825901" y="4981575"/>
            <a:ext cx="2540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kern="0" spc="14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3935656" y="5210175"/>
            <a:ext cx="4320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February 15, 2026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7823150" y="4981575"/>
            <a:ext cx="25399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kern="0" spc="14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SCOPE</a:t>
            </a:r>
            <a:endParaRPr lang="en-US" sz="900" dirty="0"/>
          </a:p>
        </p:txBody>
      </p:sp>
      <p:sp>
        <p:nvSpPr>
          <p:cNvPr id="15" name="Text 7"/>
          <p:cNvSpPr/>
          <p:nvPr/>
        </p:nvSpPr>
        <p:spPr>
          <a:xfrm>
            <a:off x="6144161" y="5210175"/>
            <a:ext cx="5897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5,630 E-Commerce Customers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10629900" y="6191250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-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</a:t>
            </a:r>
            <a:r>
              <a:rPr lang="en-US" sz="1500" b="1" kern="0" spc="-6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91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66675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90600"/>
            <a:ext cx="268605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150" y="11430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650" y="990600"/>
            <a:ext cx="2686050" cy="1371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375" y="11430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990600"/>
            <a:ext cx="2686050" cy="1371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9025" y="11430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950" y="990600"/>
            <a:ext cx="268605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9388" y="1143000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590800"/>
            <a:ext cx="3657600" cy="441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81940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2590800"/>
            <a:ext cx="7543800" cy="1600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7700" y="28194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7000" y="2781300"/>
            <a:ext cx="1333500" cy="7048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7700" y="36195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2950" y="37338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15300" y="36195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29600" y="3733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67200" y="4343400"/>
            <a:ext cx="7543800" cy="2667000"/>
          </a:xfrm>
          <a:prstGeom prst="rect">
            <a:avLst/>
          </a:prstGeom>
        </p:spPr>
      </p:pic>
      <p:pic>
        <p:nvPicPr>
          <p:cNvPr id="22" name="Image 20" descr="https://picture-search.skywork.ai/aippt/image/sheet/4d4fe1652060ba86bf759ab6c6478ce0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0" y="4367259"/>
            <a:ext cx="7543800" cy="2667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77100" y="4914900"/>
            <a:ext cx="1524000" cy="1524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53300" y="5017364"/>
            <a:ext cx="1352550" cy="135255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76936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SUMMARY: THE CRISIS &amp; OPPORTUNITY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7277100" y="438150"/>
            <a:ext cx="4533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Date: 2026-02-15</a:t>
            </a:r>
            <a:endParaRPr lang="en-US" sz="1050" dirty="0"/>
          </a:p>
        </p:txBody>
      </p:sp>
      <p:sp>
        <p:nvSpPr>
          <p:cNvPr id="27" name="Text 2"/>
          <p:cNvSpPr/>
          <p:nvPr/>
        </p:nvSpPr>
        <p:spPr>
          <a:xfrm>
            <a:off x="523875" y="1485900"/>
            <a:ext cx="24003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16.8%</a:t>
            </a:r>
            <a:endParaRPr lang="en-US" sz="2250" dirty="0"/>
          </a:p>
        </p:txBody>
      </p:sp>
      <p:sp>
        <p:nvSpPr>
          <p:cNvPr id="28" name="Text 3"/>
          <p:cNvSpPr/>
          <p:nvPr/>
        </p:nvSpPr>
        <p:spPr>
          <a:xfrm>
            <a:off x="283845" y="1828800"/>
            <a:ext cx="2880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CHURN RATE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146685" y="2057400"/>
            <a:ext cx="3154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948 Customers at Risk</a:t>
            </a:r>
            <a:endParaRPr lang="en-US" sz="900" dirty="0"/>
          </a:p>
        </p:txBody>
      </p:sp>
      <p:sp>
        <p:nvSpPr>
          <p:cNvPr id="30" name="Text 5"/>
          <p:cNvSpPr/>
          <p:nvPr/>
        </p:nvSpPr>
        <p:spPr>
          <a:xfrm>
            <a:off x="3448050" y="1485900"/>
            <a:ext cx="23812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~50%</a:t>
            </a:r>
            <a:endParaRPr lang="en-US" sz="2250" dirty="0"/>
          </a:p>
        </p:txBody>
      </p:sp>
      <p:sp>
        <p:nvSpPr>
          <p:cNvPr id="31" name="Text 6"/>
          <p:cNvSpPr/>
          <p:nvPr/>
        </p:nvSpPr>
        <p:spPr>
          <a:xfrm>
            <a:off x="3118485" y="1828800"/>
            <a:ext cx="3040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CUSTOMER CRISIS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3221355" y="2057400"/>
            <a:ext cx="28346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3 Month Window</a:t>
            </a:r>
            <a:endParaRPr lang="en-US" sz="900" dirty="0"/>
          </a:p>
        </p:txBody>
      </p:sp>
      <p:sp>
        <p:nvSpPr>
          <p:cNvPr id="33" name="Text 8"/>
          <p:cNvSpPr/>
          <p:nvPr/>
        </p:nvSpPr>
        <p:spPr>
          <a:xfrm>
            <a:off x="6353175" y="1485900"/>
            <a:ext cx="24003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89.3%</a:t>
            </a:r>
            <a:endParaRPr lang="en-US" sz="2250" dirty="0"/>
          </a:p>
        </p:txBody>
      </p:sp>
      <p:sp>
        <p:nvSpPr>
          <p:cNvPr id="34" name="Text 9"/>
          <p:cNvSpPr/>
          <p:nvPr/>
        </p:nvSpPr>
        <p:spPr>
          <a:xfrm>
            <a:off x="6362700" y="1828800"/>
            <a:ext cx="23812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6181725" y="2057400"/>
            <a:ext cx="2743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Precision</a:t>
            </a:r>
            <a:endParaRPr lang="en-US" sz="900" dirty="0"/>
          </a:p>
        </p:txBody>
      </p:sp>
      <p:sp>
        <p:nvSpPr>
          <p:cNvPr id="36" name="Text 11"/>
          <p:cNvSpPr/>
          <p:nvPr/>
        </p:nvSpPr>
        <p:spPr>
          <a:xfrm>
            <a:off x="9267825" y="1485900"/>
            <a:ext cx="24003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$236K</a:t>
            </a:r>
            <a:endParaRPr lang="en-US" sz="2250" dirty="0"/>
          </a:p>
        </p:txBody>
      </p:sp>
      <p:sp>
        <p:nvSpPr>
          <p:cNvPr id="37" name="Text 12"/>
          <p:cNvSpPr/>
          <p:nvPr/>
        </p:nvSpPr>
        <p:spPr>
          <a:xfrm>
            <a:off x="9267825" y="182880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AT RISK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9027795" y="2057400"/>
            <a:ext cx="28803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Potential Loss</a:t>
            </a:r>
            <a:endParaRPr lang="en-US" sz="900" dirty="0"/>
          </a:p>
        </p:txBody>
      </p:sp>
      <p:sp>
        <p:nvSpPr>
          <p:cNvPr id="39" name="Text 14"/>
          <p:cNvSpPr/>
          <p:nvPr/>
        </p:nvSpPr>
        <p:spPr>
          <a:xfrm>
            <a:off x="838200" y="2781300"/>
            <a:ext cx="327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0" name="Text 15"/>
          <p:cNvSpPr/>
          <p:nvPr/>
        </p:nvSpPr>
        <p:spPr>
          <a:xfrm>
            <a:off x="571500" y="3162300"/>
            <a:ext cx="205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350" dirty="0"/>
          </a:p>
        </p:txBody>
      </p:sp>
      <p:sp>
        <p:nvSpPr>
          <p:cNvPr id="41" name="Text 16"/>
          <p:cNvSpPr/>
          <p:nvPr/>
        </p:nvSpPr>
        <p:spPr>
          <a:xfrm>
            <a:off x="751284" y="3162300"/>
            <a:ext cx="30968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FAILURE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751284" y="3352800"/>
            <a:ext cx="309681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of new customers churn within first 3 months.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571500" y="3848100"/>
            <a:ext cx="205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350" dirty="0"/>
          </a:p>
        </p:txBody>
      </p:sp>
      <p:sp>
        <p:nvSpPr>
          <p:cNvPr id="44" name="Text 19"/>
          <p:cNvSpPr/>
          <p:nvPr/>
        </p:nvSpPr>
        <p:spPr>
          <a:xfrm>
            <a:off x="751284" y="3848100"/>
            <a:ext cx="30968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IMPACT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751284" y="4038600"/>
            <a:ext cx="309681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 churn rate for complainants (3x higher risk).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571500" y="4533900"/>
            <a:ext cx="205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1350" dirty="0"/>
          </a:p>
        </p:txBody>
      </p:sp>
      <p:sp>
        <p:nvSpPr>
          <p:cNvPr id="47" name="Text 22"/>
          <p:cNvSpPr/>
          <p:nvPr/>
        </p:nvSpPr>
        <p:spPr>
          <a:xfrm>
            <a:off x="751284" y="4533900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 PARADOX</a:t>
            </a:r>
            <a:endParaRPr lang="en-US" sz="1050" dirty="0"/>
          </a:p>
        </p:txBody>
      </p:sp>
      <p:sp>
        <p:nvSpPr>
          <p:cNvPr id="48" name="Text 23"/>
          <p:cNvSpPr/>
          <p:nvPr/>
        </p:nvSpPr>
        <p:spPr>
          <a:xfrm>
            <a:off x="751284" y="4724400"/>
            <a:ext cx="309681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3-4 show hidden churn risk; surveys miss deeper issues.</a:t>
            </a:r>
            <a:endParaRPr lang="en-US" sz="1050" dirty="0"/>
          </a:p>
        </p:txBody>
      </p:sp>
      <p:sp>
        <p:nvSpPr>
          <p:cNvPr id="49" name="Text 24"/>
          <p:cNvSpPr/>
          <p:nvPr/>
        </p:nvSpPr>
        <p:spPr>
          <a:xfrm>
            <a:off x="4724400" y="27813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7AE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50" name="Text 25"/>
          <p:cNvSpPr/>
          <p:nvPr/>
        </p:nvSpPr>
        <p:spPr>
          <a:xfrm>
            <a:off x="4457700" y="3124200"/>
            <a:ext cx="4876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leveraging our </a:t>
            </a: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Classifier</a:t>
            </a: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we can proactively identify </a:t>
            </a: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52% of future churners</a:t>
            </a: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51" name="Text 26"/>
          <p:cNvSpPr/>
          <p:nvPr/>
        </p:nvSpPr>
        <p:spPr>
          <a:xfrm>
            <a:off x="10153650" y="2857500"/>
            <a:ext cx="16002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kern="0" spc="-3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GOAL</a:t>
            </a:r>
            <a:endParaRPr lang="en-US" sz="750" dirty="0"/>
          </a:p>
        </p:txBody>
      </p:sp>
      <p:sp>
        <p:nvSpPr>
          <p:cNvPr id="52" name="Text 27"/>
          <p:cNvSpPr/>
          <p:nvPr/>
        </p:nvSpPr>
        <p:spPr>
          <a:xfrm>
            <a:off x="9479280" y="3000375"/>
            <a:ext cx="29489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16.8% → 12%</a:t>
            </a:r>
            <a:endParaRPr lang="en-US" sz="1350" dirty="0"/>
          </a:p>
        </p:txBody>
      </p:sp>
      <p:sp>
        <p:nvSpPr>
          <p:cNvPr id="53" name="Text 28"/>
          <p:cNvSpPr/>
          <p:nvPr/>
        </p:nvSpPr>
        <p:spPr>
          <a:xfrm>
            <a:off x="10267950" y="3267075"/>
            <a:ext cx="13716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Target</a:t>
            </a:r>
            <a:endParaRPr lang="en-US" sz="750" dirty="0"/>
          </a:p>
        </p:txBody>
      </p:sp>
      <p:sp>
        <p:nvSpPr>
          <p:cNvPr id="54" name="Text 29"/>
          <p:cNvSpPr/>
          <p:nvPr/>
        </p:nvSpPr>
        <p:spPr>
          <a:xfrm>
            <a:off x="4953000" y="3714750"/>
            <a:ext cx="3360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~270 Customers</a:t>
            </a:r>
            <a:endParaRPr lang="en-US" sz="1050" dirty="0"/>
          </a:p>
        </p:txBody>
      </p:sp>
      <p:sp>
        <p:nvSpPr>
          <p:cNvPr id="55" name="Text 30"/>
          <p:cNvSpPr/>
          <p:nvPr/>
        </p:nvSpPr>
        <p:spPr>
          <a:xfrm>
            <a:off x="8610600" y="3714750"/>
            <a:ext cx="4000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$800K Annual Protection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09" y="305139"/>
            <a:ext cx="11276556" cy="30513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09" y="1251070"/>
            <a:ext cx="3177022" cy="11900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92" y="1434153"/>
            <a:ext cx="305139" cy="30513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519" y="1510438"/>
            <a:ext cx="129684" cy="152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6786" y="1251070"/>
            <a:ext cx="3177141" cy="119004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9869" y="1434153"/>
            <a:ext cx="305139" cy="30513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154" y="1510438"/>
            <a:ext cx="152570" cy="152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709" y="2685224"/>
            <a:ext cx="6476218" cy="119004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792" y="2879869"/>
            <a:ext cx="190712" cy="19047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792" y="3203960"/>
            <a:ext cx="1273955" cy="21359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75775" y="3203960"/>
            <a:ext cx="1357869" cy="21359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94672" y="3203960"/>
            <a:ext cx="1380754" cy="21359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36454" y="3203960"/>
            <a:ext cx="1365497" cy="21359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792" y="3478585"/>
            <a:ext cx="1601980" cy="21359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03800" y="3478585"/>
            <a:ext cx="976445" cy="21359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41273" y="3478585"/>
            <a:ext cx="1441782" cy="21359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4082" y="3478585"/>
            <a:ext cx="732334" cy="21359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709" y="4119377"/>
            <a:ext cx="6476218" cy="1434153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792" y="4314022"/>
            <a:ext cx="190712" cy="19047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792" y="4668627"/>
            <a:ext cx="129684" cy="13337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56786" y="4668627"/>
            <a:ext cx="129684" cy="133379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792" y="5095822"/>
            <a:ext cx="129684" cy="133379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56786" y="5095822"/>
            <a:ext cx="129684" cy="133379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78038" y="1251070"/>
            <a:ext cx="4556226" cy="3615063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00094" y="1647751"/>
            <a:ext cx="4312115" cy="286199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8038" y="4988189"/>
            <a:ext cx="4556226" cy="70182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709" y="6247722"/>
            <a:ext cx="11276556" cy="305139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40792" y="305139"/>
            <a:ext cx="14597530" cy="3051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3"/>
              </a:lnSpc>
              <a:buNone/>
            </a:pPr>
            <a:r>
              <a:rPr lang="en-US" sz="2700" b="1" kern="0" spc="-67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Foundation &amp; Methodology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701820" y="671306"/>
            <a:ext cx="18752915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2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robust framework for churn prediction and behavioral analysis.</a:t>
            </a:r>
            <a:endParaRPr lang="en-US" sz="1350" dirty="0"/>
          </a:p>
        </p:txBody>
      </p:sp>
      <p:sp>
        <p:nvSpPr>
          <p:cNvPr id="32" name="Text 2"/>
          <p:cNvSpPr/>
          <p:nvPr/>
        </p:nvSpPr>
        <p:spPr>
          <a:xfrm>
            <a:off x="1067987" y="1479924"/>
            <a:ext cx="3425187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2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Size</a:t>
            </a:r>
            <a:endParaRPr lang="en-US" sz="1500" dirty="0"/>
          </a:p>
        </p:txBody>
      </p:sp>
      <p:sp>
        <p:nvSpPr>
          <p:cNvPr id="33" name="Text 3"/>
          <p:cNvSpPr/>
          <p:nvPr/>
        </p:nvSpPr>
        <p:spPr>
          <a:xfrm>
            <a:off x="640792" y="1830834"/>
            <a:ext cx="3282471" cy="274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2"/>
              </a:lnSpc>
              <a:buNone/>
            </a:pPr>
            <a:r>
              <a:rPr lang="en-US" sz="22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5,630</a:t>
            </a:r>
            <a:endParaRPr lang="en-US" sz="2250" dirty="0"/>
          </a:p>
        </p:txBody>
      </p:sp>
      <p:sp>
        <p:nvSpPr>
          <p:cNvPr id="34" name="Text 4"/>
          <p:cNvSpPr/>
          <p:nvPr/>
        </p:nvSpPr>
        <p:spPr>
          <a:xfrm>
            <a:off x="640792" y="2105459"/>
            <a:ext cx="4795278" cy="1525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customers analyzed</a:t>
            </a:r>
            <a:endParaRPr lang="en-US" sz="1050" dirty="0"/>
          </a:p>
        </p:txBody>
      </p:sp>
      <p:sp>
        <p:nvSpPr>
          <p:cNvPr id="35" name="Text 5"/>
          <p:cNvSpPr/>
          <p:nvPr/>
        </p:nvSpPr>
        <p:spPr>
          <a:xfrm>
            <a:off x="4367064" y="1479924"/>
            <a:ext cx="3996051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2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36" name="Text 6"/>
          <p:cNvSpPr/>
          <p:nvPr/>
        </p:nvSpPr>
        <p:spPr>
          <a:xfrm>
            <a:off x="3939869" y="1830834"/>
            <a:ext cx="3282471" cy="274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2"/>
              </a:lnSpc>
              <a:buNone/>
            </a:pPr>
            <a:r>
              <a:rPr lang="en-US" sz="22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80/20</a:t>
            </a:r>
            <a:endParaRPr lang="en-US" sz="2250" dirty="0"/>
          </a:p>
        </p:txBody>
      </p:sp>
      <p:sp>
        <p:nvSpPr>
          <p:cNvPr id="37" name="Text 7"/>
          <p:cNvSpPr/>
          <p:nvPr/>
        </p:nvSpPr>
        <p:spPr>
          <a:xfrm>
            <a:off x="3939869" y="2105459"/>
            <a:ext cx="5394688" cy="1525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train-test split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923046" y="2868307"/>
            <a:ext cx="10085273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2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Behavioral Features (20 Total)</a:t>
            </a:r>
            <a:endParaRPr lang="en-US" sz="1500" dirty="0"/>
          </a:p>
        </p:txBody>
      </p:sp>
      <p:sp>
        <p:nvSpPr>
          <p:cNvPr id="39" name="Text 9"/>
          <p:cNvSpPr/>
          <p:nvPr/>
        </p:nvSpPr>
        <p:spPr>
          <a:xfrm>
            <a:off x="732334" y="3203960"/>
            <a:ext cx="2459255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 (Months)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2067317" y="3203960"/>
            <a:ext cx="2824821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History</a:t>
            </a:r>
            <a:endParaRPr lang="en-US" sz="1050" dirty="0"/>
          </a:p>
        </p:txBody>
      </p:sp>
      <p:sp>
        <p:nvSpPr>
          <p:cNvPr id="41" name="Text 11"/>
          <p:cNvSpPr/>
          <p:nvPr/>
        </p:nvSpPr>
        <p:spPr>
          <a:xfrm>
            <a:off x="3486213" y="3203960"/>
            <a:ext cx="2500852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Cashback Amount</a:t>
            </a:r>
            <a:endParaRPr lang="en-US" sz="1050" dirty="0"/>
          </a:p>
        </p:txBody>
      </p:sp>
      <p:sp>
        <p:nvSpPr>
          <p:cNvPr id="42" name="Text 12"/>
          <p:cNvSpPr/>
          <p:nvPr/>
        </p:nvSpPr>
        <p:spPr>
          <a:xfrm>
            <a:off x="4927995" y="3203960"/>
            <a:ext cx="2994370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 Score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732334" y="3478585"/>
            <a:ext cx="3597125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Since Last Order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2395341" y="3478585"/>
            <a:ext cx="1683290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Count</a:t>
            </a:r>
            <a:endParaRPr lang="en-US" sz="1050" dirty="0"/>
          </a:p>
        </p:txBody>
      </p:sp>
      <p:sp>
        <p:nvSpPr>
          <p:cNvPr id="45" name="Text 15"/>
          <p:cNvSpPr/>
          <p:nvPr/>
        </p:nvSpPr>
        <p:spPr>
          <a:xfrm>
            <a:off x="3432814" y="3478585"/>
            <a:ext cx="3194350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Registration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4935624" y="3478585"/>
            <a:ext cx="1236907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Tier</a:t>
            </a:r>
            <a:endParaRPr lang="en-US" sz="1050" dirty="0"/>
          </a:p>
        </p:txBody>
      </p:sp>
      <p:sp>
        <p:nvSpPr>
          <p:cNvPr id="47" name="Text 17"/>
          <p:cNvSpPr/>
          <p:nvPr/>
        </p:nvSpPr>
        <p:spPr>
          <a:xfrm>
            <a:off x="923046" y="4302460"/>
            <a:ext cx="7992103" cy="213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2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&amp; Preprocessing</a:t>
            </a:r>
            <a:endParaRPr lang="en-US" sz="1500" dirty="0"/>
          </a:p>
        </p:txBody>
      </p:sp>
      <p:sp>
        <p:nvSpPr>
          <p:cNvPr id="48" name="Text 18"/>
          <p:cNvSpPr/>
          <p:nvPr/>
        </p:nvSpPr>
        <p:spPr>
          <a:xfrm>
            <a:off x="831504" y="4638113"/>
            <a:ext cx="2993938" cy="3051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01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4-5% missing values handled via median imputation.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3947498" y="4638113"/>
            <a:ext cx="2994058" cy="3051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01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classification target: Churn (1) vs. Retained (0).</a:t>
            </a:r>
            <a:endParaRPr lang="en-US" sz="1050" dirty="0"/>
          </a:p>
        </p:txBody>
      </p:sp>
      <p:sp>
        <p:nvSpPr>
          <p:cNvPr id="50" name="Text 20"/>
          <p:cNvSpPr/>
          <p:nvPr/>
        </p:nvSpPr>
        <p:spPr>
          <a:xfrm>
            <a:off x="831504" y="5065308"/>
            <a:ext cx="2993938" cy="3051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01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values retained as they indicate meaningful behavior.</a:t>
            </a:r>
            <a:endParaRPr lang="en-US" sz="1050" dirty="0"/>
          </a:p>
        </p:txBody>
      </p:sp>
      <p:sp>
        <p:nvSpPr>
          <p:cNvPr id="51" name="Text 21"/>
          <p:cNvSpPr/>
          <p:nvPr/>
        </p:nvSpPr>
        <p:spPr>
          <a:xfrm>
            <a:off x="3947498" y="5065308"/>
            <a:ext cx="2994058" cy="3051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01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scaling applied for feature consistency.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5959594" y="1373126"/>
            <a:ext cx="6993114" cy="1525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1"/>
              </a:lnSpc>
              <a:buNone/>
            </a:pPr>
            <a:r>
              <a:rPr lang="en-US" sz="1050" b="1" kern="0" spc="105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FEATURE DISTRIBUTION: TENURE</a:t>
            </a:r>
            <a:endParaRPr lang="en-US" sz="1050" dirty="0"/>
          </a:p>
        </p:txBody>
      </p:sp>
      <p:sp>
        <p:nvSpPr>
          <p:cNvPr id="53" name="Text 23"/>
          <p:cNvSpPr/>
          <p:nvPr/>
        </p:nvSpPr>
        <p:spPr>
          <a:xfrm>
            <a:off x="3485860" y="4601282"/>
            <a:ext cx="11940582" cy="1427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Boxplot analysis reveals core customer tenure ranges and outliers (50-60 months).</a:t>
            </a:r>
            <a:endParaRPr lang="en-US" sz="750" dirty="0"/>
          </a:p>
        </p:txBody>
      </p:sp>
      <p:sp>
        <p:nvSpPr>
          <p:cNvPr id="54" name="Text 24"/>
          <p:cNvSpPr/>
          <p:nvPr/>
        </p:nvSpPr>
        <p:spPr>
          <a:xfrm>
            <a:off x="7300094" y="5110244"/>
            <a:ext cx="4312115" cy="4577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1"/>
              </a:lnSpc>
              <a:buNone/>
            </a:pPr>
            <a:r>
              <a:rPr lang="en-US" sz="1050" b="1" i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"Stratified split ensures the model maintains the original 16.8% churn ratio in both training and testing phases for unbiased evaluation."</a:t>
            </a:r>
            <a:endParaRPr lang="en-US" sz="1050" dirty="0"/>
          </a:p>
        </p:txBody>
      </p:sp>
      <p:sp>
        <p:nvSpPr>
          <p:cNvPr id="55" name="Text 25"/>
          <p:cNvSpPr/>
          <p:nvPr/>
        </p:nvSpPr>
        <p:spPr>
          <a:xfrm>
            <a:off x="457709" y="6430805"/>
            <a:ext cx="8620042" cy="1220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61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CHURN ANALYSIS REPORT | 2026-02-15</a:t>
            </a:r>
            <a:endParaRPr lang="en-US" sz="900" dirty="0"/>
          </a:p>
        </p:txBody>
      </p:sp>
      <p:sp>
        <p:nvSpPr>
          <p:cNvPr id="56" name="Text 26"/>
          <p:cNvSpPr/>
          <p:nvPr/>
        </p:nvSpPr>
        <p:spPr>
          <a:xfrm>
            <a:off x="10300111" y="6430805"/>
            <a:ext cx="3596441" cy="1220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61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STRICTLY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723" y="290593"/>
            <a:ext cx="2154362" cy="26153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90" y="1191432"/>
            <a:ext cx="4581043" cy="107133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186" y="1336729"/>
            <a:ext cx="145297" cy="2034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890" y="2437124"/>
            <a:ext cx="4581043" cy="107133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186" y="2582420"/>
            <a:ext cx="188886" cy="20341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890" y="3682815"/>
            <a:ext cx="4581043" cy="107133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186" y="3828112"/>
            <a:ext cx="188886" cy="20341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890" y="5087879"/>
            <a:ext cx="4581043" cy="89834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49407" y="1075195"/>
            <a:ext cx="6506564" cy="50272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31631" y="1313118"/>
            <a:ext cx="72648" cy="7616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3764" y="1569203"/>
            <a:ext cx="6160577" cy="4351633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5890" y="6334933"/>
            <a:ext cx="11320195" cy="23247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890" y="6465700"/>
            <a:ext cx="87178" cy="8717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21331" y="6465700"/>
            <a:ext cx="87178" cy="87178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35890" y="290593"/>
            <a:ext cx="21939504" cy="2905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88"/>
              </a:lnSpc>
              <a:buNone/>
            </a:pPr>
            <a:r>
              <a:rPr lang="en-US" sz="2700" b="1" kern="0" spc="-7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#1: The Critical </a:t>
            </a:r>
            <a:r>
              <a:rPr lang="en-US" sz="2700" b="1" u="sng" kern="0" spc="-7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90 Days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435890" y="639305"/>
            <a:ext cx="11868912" cy="2034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2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Failure Analysis &amp; Churn Velocity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9717960" y="290593"/>
            <a:ext cx="3782547" cy="2615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44"/>
              </a:lnSpc>
              <a:buNone/>
            </a:pPr>
            <a:r>
              <a:rPr lang="en-US" sz="1050" b="1" kern="0" spc="11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RISK SEGMENT</a:t>
            </a:r>
            <a:endParaRPr lang="en-US" sz="1050" dirty="0"/>
          </a:p>
        </p:txBody>
      </p:sp>
      <p:sp>
        <p:nvSpPr>
          <p:cNvPr id="20" name="Text 3"/>
          <p:cNvSpPr/>
          <p:nvPr/>
        </p:nvSpPr>
        <p:spPr>
          <a:xfrm>
            <a:off x="813661" y="1336729"/>
            <a:ext cx="4795516" cy="2034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2"/>
              </a:lnSpc>
              <a:buNone/>
            </a:pPr>
            <a:r>
              <a:rPr lang="en-US" sz="1500" b="1" kern="0" spc="-3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CRISIS POINT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581186" y="1598263"/>
            <a:ext cx="7343134" cy="2615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9"/>
              </a:lnSpc>
              <a:buNone/>
            </a:pPr>
            <a:r>
              <a:rPr lang="en-US" sz="22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~50% Churn Rate</a:t>
            </a:r>
            <a:endParaRPr lang="en-US" sz="2250" dirty="0"/>
          </a:p>
        </p:txBody>
      </p:sp>
      <p:sp>
        <p:nvSpPr>
          <p:cNvPr id="22" name="Text 5"/>
          <p:cNvSpPr/>
          <p:nvPr/>
        </p:nvSpPr>
        <p:spPr>
          <a:xfrm>
            <a:off x="581186" y="1888856"/>
            <a:ext cx="13107769" cy="2286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within the first 3 months of customer tenure.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857250" y="2582420"/>
            <a:ext cx="4495796" cy="2034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2"/>
              </a:lnSpc>
              <a:buNone/>
            </a:pPr>
            <a:r>
              <a:rPr lang="en-US" sz="1500" b="1" kern="0" spc="-3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SYSTEMIC IMPACT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581186" y="2843954"/>
            <a:ext cx="8242293" cy="2615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9"/>
              </a:lnSpc>
              <a:buNone/>
            </a:pPr>
            <a:r>
              <a:rPr lang="en-US" sz="22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66% of Total Loss</a:t>
            </a:r>
            <a:endParaRPr lang="en-US" sz="2250" dirty="0"/>
          </a:p>
        </p:txBody>
      </p:sp>
      <p:sp>
        <p:nvSpPr>
          <p:cNvPr id="25" name="Text 8"/>
          <p:cNvSpPr/>
          <p:nvPr/>
        </p:nvSpPr>
        <p:spPr>
          <a:xfrm>
            <a:off x="581186" y="3134547"/>
            <a:ext cx="15105904" cy="2286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Early-stage dissatisfaction is the primary driver of attrition.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857250" y="3828112"/>
            <a:ext cx="4096170" cy="2034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2"/>
              </a:lnSpc>
              <a:buNone/>
            </a:pPr>
            <a:r>
              <a:rPr lang="en-US" sz="1500" b="1" kern="0" spc="-3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 SPIKE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581186" y="4089646"/>
            <a:ext cx="4290450" cy="2615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9"/>
              </a:lnSpc>
              <a:buNone/>
            </a:pPr>
            <a:r>
              <a:rPr lang="en-US" sz="22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51% Peak</a:t>
            </a:r>
            <a:endParaRPr lang="en-US" sz="2250" dirty="0"/>
          </a:p>
        </p:txBody>
      </p:sp>
      <p:sp>
        <p:nvSpPr>
          <p:cNvPr id="28" name="Text 11"/>
          <p:cNvSpPr/>
          <p:nvPr/>
        </p:nvSpPr>
        <p:spPr>
          <a:xfrm>
            <a:off x="581186" y="4380239"/>
            <a:ext cx="11509260" cy="2286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failure point at the onboarding stage.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581186" y="5233175"/>
            <a:ext cx="4290450" cy="14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44"/>
              </a:lnSpc>
              <a:buNone/>
            </a:pPr>
            <a:r>
              <a:rPr lang="en-US" sz="1050" b="1" kern="0" spc="55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581186" y="5407532"/>
            <a:ext cx="4290450" cy="4333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653 </a:t>
            </a: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"Frustrated Newcomers"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 immediate intervention. Stabilizing the first 90 days can save $500K annually.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5423764" y="1249551"/>
            <a:ext cx="8092440" cy="2034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2"/>
              </a:lnSpc>
              <a:buNone/>
            </a:pPr>
            <a:r>
              <a:rPr lang="en-US" sz="1350" b="1" kern="0" spc="1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RATE VS. TENURE (MONTHS)</a:t>
            </a:r>
            <a:endParaRPr lang="en-US" sz="1350" dirty="0"/>
          </a:p>
        </p:txBody>
      </p:sp>
      <p:sp>
        <p:nvSpPr>
          <p:cNvPr id="32" name="Text 15"/>
          <p:cNvSpPr/>
          <p:nvPr/>
        </p:nvSpPr>
        <p:spPr>
          <a:xfrm>
            <a:off x="10833339" y="1293140"/>
            <a:ext cx="1798316" cy="1162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15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33" name="Text 16"/>
          <p:cNvSpPr/>
          <p:nvPr/>
        </p:nvSpPr>
        <p:spPr>
          <a:xfrm>
            <a:off x="581186" y="6451170"/>
            <a:ext cx="4016239" cy="1162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15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 Months: High Risk</a:t>
            </a:r>
            <a:endParaRPr lang="en-US" sz="900" dirty="0"/>
          </a:p>
        </p:txBody>
      </p:sp>
      <p:sp>
        <p:nvSpPr>
          <p:cNvPr id="34" name="Text 17"/>
          <p:cNvSpPr/>
          <p:nvPr/>
        </p:nvSpPr>
        <p:spPr>
          <a:xfrm>
            <a:off x="2266627" y="6451170"/>
            <a:ext cx="4495790" cy="1162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15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12+ Months: Stable (5%)</a:t>
            </a:r>
            <a:endParaRPr lang="en-US" sz="900" dirty="0"/>
          </a:p>
        </p:txBody>
      </p:sp>
      <p:sp>
        <p:nvSpPr>
          <p:cNvPr id="35" name="Text 18"/>
          <p:cNvSpPr/>
          <p:nvPr/>
        </p:nvSpPr>
        <p:spPr>
          <a:xfrm>
            <a:off x="8326404" y="6451170"/>
            <a:ext cx="7552928" cy="1162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15"/>
              </a:lnSpc>
              <a:buNone/>
            </a:pPr>
            <a:r>
              <a:rPr lang="en-US" sz="900" kern="0" spc="9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DRIVING RETENTION THROUGH EARLY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55" y="369455"/>
            <a:ext cx="11453092" cy="93133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55" y="1547091"/>
            <a:ext cx="5572606" cy="409719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97" y="1808788"/>
            <a:ext cx="192424" cy="2155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182" y="2842587"/>
            <a:ext cx="5187757" cy="197042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82" y="4936163"/>
            <a:ext cx="2540000" cy="52339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7333" y="4936163"/>
            <a:ext cx="2540000" cy="52339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9939" y="1547091"/>
            <a:ext cx="5572606" cy="409719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3181" y="1808788"/>
            <a:ext cx="192424" cy="21551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4667" y="2842587"/>
            <a:ext cx="5187758" cy="197042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4667" y="4936163"/>
            <a:ext cx="5203151" cy="36945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91030" y="5028526"/>
            <a:ext cx="954424" cy="18472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455" y="5890587"/>
            <a:ext cx="3694545" cy="59795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2606" y="6066415"/>
            <a:ext cx="230909" cy="24630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48727" y="5890587"/>
            <a:ext cx="3694545" cy="59795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1879" y="6066415"/>
            <a:ext cx="230909" cy="24630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28000" y="5890587"/>
            <a:ext cx="3694546" cy="59795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51152" y="6066415"/>
            <a:ext cx="284788" cy="246303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54182" y="369455"/>
            <a:ext cx="34173414" cy="4572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8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#2: Complaints &amp; The Satisfaction Paradox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554182" y="888278"/>
            <a:ext cx="13861733" cy="2155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7"/>
              </a:lnSpc>
              <a:buNone/>
            </a:pPr>
            <a:r>
              <a:rPr lang="en-US" sz="1500" b="1" kern="0" spc="149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SILENT DISSATISFACTION &amp; SERVICE RISKS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046788" y="1793394"/>
            <a:ext cx="6789420" cy="2463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39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Complaint Danger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554182" y="2224424"/>
            <a:ext cx="5203152" cy="4334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Complaints are the single strongest signal of churn. Users filing a complaint are </a:t>
            </a:r>
            <a:r>
              <a:rPr lang="en-US" sz="1050" b="1" i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3X more likely</a:t>
            </a: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leave.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646545" y="5028526"/>
            <a:ext cx="2355273" cy="1231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900" b="1" kern="0" spc="-4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COMPLAINT</a:t>
            </a:r>
            <a:endParaRPr lang="en-US" sz="900" dirty="0"/>
          </a:p>
        </p:txBody>
      </p:sp>
      <p:sp>
        <p:nvSpPr>
          <p:cNvPr id="25" name="Text 5"/>
          <p:cNvSpPr/>
          <p:nvPr/>
        </p:nvSpPr>
        <p:spPr>
          <a:xfrm>
            <a:off x="-14619" y="5151678"/>
            <a:ext cx="3677602" cy="2155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7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10.9% Churn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3214317" y="5028526"/>
            <a:ext cx="2546032" cy="1231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900" b="1" kern="0" spc="-45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FILED</a:t>
            </a:r>
            <a:endParaRPr lang="en-US" sz="900" dirty="0"/>
          </a:p>
        </p:txBody>
      </p:sp>
      <p:sp>
        <p:nvSpPr>
          <p:cNvPr id="27" name="Text 7"/>
          <p:cNvSpPr/>
          <p:nvPr/>
        </p:nvSpPr>
        <p:spPr>
          <a:xfrm>
            <a:off x="2648532" y="5151678"/>
            <a:ext cx="3677602" cy="2155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7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 Churn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927273" y="1793394"/>
            <a:ext cx="8147304" cy="2463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39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Satisfaction Paradox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6434667" y="2224424"/>
            <a:ext cx="5203151" cy="4334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Mid-range scores (3-4) mask churn risk. High satisfaction (5) does not guarantee loyalty; these users may leave </a:t>
            </a: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warning</a:t>
            </a: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6527030" y="5043921"/>
            <a:ext cx="6534817" cy="1539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12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 "Silent Dissatisfaction"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10652606" y="5028526"/>
            <a:ext cx="1854223" cy="1847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RISK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846667" y="6013739"/>
            <a:ext cx="2546032" cy="1231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REQUIRED</a:t>
            </a:r>
            <a:endParaRPr lang="en-US" sz="900" dirty="0"/>
          </a:p>
        </p:txBody>
      </p:sp>
      <p:sp>
        <p:nvSpPr>
          <p:cNvPr id="33" name="Text 13"/>
          <p:cNvSpPr/>
          <p:nvPr/>
        </p:nvSpPr>
        <p:spPr>
          <a:xfrm>
            <a:off x="846667" y="6136890"/>
            <a:ext cx="4149090" cy="228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&lt;24h Response SLA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4725939" y="6013739"/>
            <a:ext cx="2332181" cy="1231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5" name="Text 15"/>
          <p:cNvSpPr/>
          <p:nvPr/>
        </p:nvSpPr>
        <p:spPr>
          <a:xfrm>
            <a:off x="4725939" y="6136890"/>
            <a:ext cx="6864858" cy="228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Deep-Dive Surveys (3-4 Score)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8659091" y="6013739"/>
            <a:ext cx="2070485" cy="1231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900" dirty="0"/>
          </a:p>
        </p:txBody>
      </p:sp>
      <p:sp>
        <p:nvSpPr>
          <p:cNvPr id="37" name="Text 17"/>
          <p:cNvSpPr/>
          <p:nvPr/>
        </p:nvSpPr>
        <p:spPr>
          <a:xfrm>
            <a:off x="8659091" y="6136890"/>
            <a:ext cx="5884164" cy="228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Service Recovery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4267200" cy="15859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" y="1795463"/>
            <a:ext cx="219075" cy="266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24213"/>
            <a:ext cx="4267200" cy="22764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4150" y="3810000"/>
            <a:ext cx="952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433888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929188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772150"/>
            <a:ext cx="4267200" cy="876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700" y="1828800"/>
            <a:ext cx="6400800" cy="44481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2100" y="1981200"/>
            <a:ext cx="6076950" cy="41433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9700" y="6429375"/>
            <a:ext cx="1219200" cy="2190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6429375"/>
            <a:ext cx="1219200" cy="2190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0" y="6429375"/>
            <a:ext cx="1219200" cy="2190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5900" y="6429375"/>
            <a:ext cx="1219200" cy="2190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1300" y="6429375"/>
            <a:ext cx="1219200" cy="2190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381000"/>
            <a:ext cx="11049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252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#3</a:t>
            </a:r>
            <a:endParaRPr lang="en-US" sz="1050" dirty="0"/>
          </a:p>
        </p:txBody>
      </p:sp>
      <p:sp>
        <p:nvSpPr>
          <p:cNvPr id="18" name="Text 1"/>
          <p:cNvSpPr/>
          <p:nvPr/>
        </p:nvSpPr>
        <p:spPr>
          <a:xfrm>
            <a:off x="571500" y="647700"/>
            <a:ext cx="153619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Cashback Impact on Retention</a:t>
            </a:r>
            <a:endParaRPr lang="en-US" sz="3600" dirty="0"/>
          </a:p>
        </p:txBody>
      </p:sp>
      <p:sp>
        <p:nvSpPr>
          <p:cNvPr id="19" name="Text 2"/>
          <p:cNvSpPr/>
          <p:nvPr/>
        </p:nvSpPr>
        <p:spPr>
          <a:xfrm>
            <a:off x="1409700" y="1638300"/>
            <a:ext cx="1790700" cy="581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Lower Churn
</a:t>
            </a: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Highest Tier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800100" y="2333625"/>
            <a:ext cx="3810000" cy="4333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reveals a direct, inverse relationship between cashback incentives and customer attrition.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800100" y="3452813"/>
            <a:ext cx="3810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36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IMPACT</a:t>
            </a:r>
            <a:endParaRPr lang="en-US" sz="900" dirty="0"/>
          </a:p>
        </p:txBody>
      </p:sp>
      <p:sp>
        <p:nvSpPr>
          <p:cNvPr id="22" name="Text 5"/>
          <p:cNvSpPr/>
          <p:nvPr/>
        </p:nvSpPr>
        <p:spPr>
          <a:xfrm>
            <a:off x="80963" y="3757613"/>
            <a:ext cx="24003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$500K</a:t>
            </a:r>
            <a:endParaRPr lang="en-US" sz="2250" dirty="0"/>
          </a:p>
        </p:txBody>
      </p:sp>
      <p:sp>
        <p:nvSpPr>
          <p:cNvPr id="23" name="Text 6"/>
          <p:cNvSpPr/>
          <p:nvPr/>
        </p:nvSpPr>
        <p:spPr>
          <a:xfrm>
            <a:off x="652463" y="4100513"/>
            <a:ext cx="12573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BENEFIT</a:t>
            </a:r>
            <a:endParaRPr lang="en-US" sz="750" dirty="0"/>
          </a:p>
        </p:txBody>
      </p:sp>
      <p:sp>
        <p:nvSpPr>
          <p:cNvPr id="24" name="Text 7"/>
          <p:cNvSpPr/>
          <p:nvPr/>
        </p:nvSpPr>
        <p:spPr>
          <a:xfrm>
            <a:off x="3409950" y="3757613"/>
            <a:ext cx="14859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2250" dirty="0"/>
          </a:p>
        </p:txBody>
      </p:sp>
      <p:sp>
        <p:nvSpPr>
          <p:cNvPr id="25" name="Text 8"/>
          <p:cNvSpPr/>
          <p:nvPr/>
        </p:nvSpPr>
        <p:spPr>
          <a:xfrm>
            <a:off x="3295650" y="4100513"/>
            <a:ext cx="17145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REDUCTION</a:t>
            </a:r>
            <a:endParaRPr lang="en-US" sz="750" dirty="0"/>
          </a:p>
        </p:txBody>
      </p:sp>
      <p:sp>
        <p:nvSpPr>
          <p:cNvPr id="26" name="Text 9"/>
          <p:cNvSpPr/>
          <p:nvPr/>
        </p:nvSpPr>
        <p:spPr>
          <a:xfrm>
            <a:off x="1047750" y="4395788"/>
            <a:ext cx="3562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tool for re-engaging "Quietly Disengaged" customers.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1047750" y="4891088"/>
            <a:ext cx="3562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dynamic rewards programs recommended.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723900" y="5924550"/>
            <a:ext cx="3962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INSIGHT:</a:t>
            </a:r>
            <a:endParaRPr lang="en-US" sz="900" dirty="0"/>
          </a:p>
        </p:txBody>
      </p:sp>
      <p:sp>
        <p:nvSpPr>
          <p:cNvPr id="29" name="Text 12"/>
          <p:cNvSpPr/>
          <p:nvPr/>
        </p:nvSpPr>
        <p:spPr>
          <a:xfrm>
            <a:off x="723900" y="6115050"/>
            <a:ext cx="396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Low-Tier (Q1) customers with personalized cashback boosters to preemptively reduce the 26.3% churn risk.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5372100" y="1409700"/>
            <a:ext cx="5554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Rate by Cashback Tier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9429750" y="1466850"/>
            <a:ext cx="4800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Customer Behavioral Dataset</a:t>
            </a:r>
            <a:endParaRPr lang="en-US" sz="900" dirty="0"/>
          </a:p>
        </p:txBody>
      </p:sp>
      <p:sp>
        <p:nvSpPr>
          <p:cNvPr id="32" name="Text 15"/>
          <p:cNvSpPr/>
          <p:nvPr/>
        </p:nvSpPr>
        <p:spPr>
          <a:xfrm>
            <a:off x="5219700" y="6429375"/>
            <a:ext cx="10668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Q1: Lowest</a:t>
            </a:r>
            <a:endParaRPr lang="en-US" sz="750" dirty="0"/>
          </a:p>
        </p:txBody>
      </p:sp>
      <p:sp>
        <p:nvSpPr>
          <p:cNvPr id="33" name="Text 16"/>
          <p:cNvSpPr/>
          <p:nvPr/>
        </p:nvSpPr>
        <p:spPr>
          <a:xfrm>
            <a:off x="6465094" y="6429375"/>
            <a:ext cx="1166813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Q2: Mid-Low</a:t>
            </a:r>
            <a:endParaRPr lang="en-US" sz="750" dirty="0"/>
          </a:p>
        </p:txBody>
      </p:sp>
      <p:sp>
        <p:nvSpPr>
          <p:cNvPr id="34" name="Text 17"/>
          <p:cNvSpPr/>
          <p:nvPr/>
        </p:nvSpPr>
        <p:spPr>
          <a:xfrm>
            <a:off x="7810500" y="6429375"/>
            <a:ext cx="10668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Q3: Mid</a:t>
            </a:r>
            <a:endParaRPr lang="en-US" sz="750" dirty="0"/>
          </a:p>
        </p:txBody>
      </p:sp>
      <p:sp>
        <p:nvSpPr>
          <p:cNvPr id="35" name="Text 18"/>
          <p:cNvSpPr/>
          <p:nvPr/>
        </p:nvSpPr>
        <p:spPr>
          <a:xfrm>
            <a:off x="9105900" y="6429375"/>
            <a:ext cx="10668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Q4: High</a:t>
            </a:r>
            <a:endParaRPr lang="en-US" sz="750" dirty="0"/>
          </a:p>
        </p:txBody>
      </p:sp>
      <p:sp>
        <p:nvSpPr>
          <p:cNvPr id="36" name="Text 19"/>
          <p:cNvSpPr/>
          <p:nvPr/>
        </p:nvSpPr>
        <p:spPr>
          <a:xfrm>
            <a:off x="10351294" y="6429375"/>
            <a:ext cx="1166813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Q5: Highest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8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16" y="1703762"/>
            <a:ext cx="3720380" cy="108811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24" y="1875570"/>
            <a:ext cx="229077" cy="2290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804" y="1703762"/>
            <a:ext cx="3720380" cy="108811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612" y="1875570"/>
            <a:ext cx="229077" cy="22907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7992" y="1703762"/>
            <a:ext cx="3720380" cy="108811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800" y="1875570"/>
            <a:ext cx="200442" cy="22907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616" y="3135495"/>
            <a:ext cx="6544026" cy="337889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424" y="3321844"/>
            <a:ext cx="171808" cy="17136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424" y="3622284"/>
            <a:ext cx="6185086" cy="27202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3988" y="3135495"/>
            <a:ext cx="4674384" cy="1573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5796" y="4193970"/>
            <a:ext cx="114538" cy="11453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5796" y="4423047"/>
            <a:ext cx="114538" cy="11453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73988" y="4881202"/>
            <a:ext cx="4674384" cy="83040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43616" y="343616"/>
            <a:ext cx="20439899" cy="4571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96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 Performance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343616" y="858033"/>
            <a:ext cx="13991584" cy="2004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8"/>
              </a:lnSpc>
              <a:buNone/>
            </a:pPr>
            <a:r>
              <a:rPr lang="en-US" sz="1500" b="1" kern="0" spc="8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CLASSIFIER: TECHNICAL VALIDATION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830405" y="1918522"/>
            <a:ext cx="1703326" cy="143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7"/>
              </a:lnSpc>
              <a:buNone/>
            </a:pPr>
            <a:r>
              <a:rPr lang="en-US" sz="1050" b="1" kern="0" spc="11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9" name="Text 3"/>
          <p:cNvSpPr/>
          <p:nvPr/>
        </p:nvSpPr>
        <p:spPr>
          <a:xfrm>
            <a:off x="515424" y="2161916"/>
            <a:ext cx="3832479" cy="2863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5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89.3%</a:t>
            </a:r>
            <a:endParaRPr lang="en-US" sz="2700" dirty="0"/>
          </a:p>
        </p:txBody>
      </p:sp>
      <p:sp>
        <p:nvSpPr>
          <p:cNvPr id="20" name="Text 4"/>
          <p:cNvSpPr/>
          <p:nvPr/>
        </p:nvSpPr>
        <p:spPr>
          <a:xfrm>
            <a:off x="515424" y="2505532"/>
            <a:ext cx="10037466" cy="114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02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prediction correctness across all test samples.</a:t>
            </a:r>
            <a:endParaRPr lang="en-US" sz="900" dirty="0"/>
          </a:p>
        </p:txBody>
      </p:sp>
      <p:sp>
        <p:nvSpPr>
          <p:cNvPr id="21" name="Text 5"/>
          <p:cNvSpPr/>
          <p:nvPr/>
        </p:nvSpPr>
        <p:spPr>
          <a:xfrm>
            <a:off x="4722593" y="1918522"/>
            <a:ext cx="1916242" cy="143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7"/>
              </a:lnSpc>
              <a:buNone/>
            </a:pPr>
            <a:r>
              <a:rPr lang="en-US" sz="1050" b="1" kern="0" spc="11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2" name="Text 6"/>
          <p:cNvSpPr/>
          <p:nvPr/>
        </p:nvSpPr>
        <p:spPr>
          <a:xfrm>
            <a:off x="4407612" y="2161916"/>
            <a:ext cx="3832479" cy="2863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5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78.0%</a:t>
            </a:r>
            <a:endParaRPr lang="en-US" sz="2700" dirty="0"/>
          </a:p>
        </p:txBody>
      </p:sp>
      <p:sp>
        <p:nvSpPr>
          <p:cNvPr id="23" name="Text 7"/>
          <p:cNvSpPr/>
          <p:nvPr/>
        </p:nvSpPr>
        <p:spPr>
          <a:xfrm>
            <a:off x="4407612" y="2505532"/>
            <a:ext cx="8942470" cy="114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02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of churn predictions (Low false alarms).</a:t>
            </a:r>
            <a:endParaRPr lang="en-US" sz="900" dirty="0"/>
          </a:p>
        </p:txBody>
      </p:sp>
      <p:sp>
        <p:nvSpPr>
          <p:cNvPr id="24" name="Text 8"/>
          <p:cNvSpPr/>
          <p:nvPr/>
        </p:nvSpPr>
        <p:spPr>
          <a:xfrm>
            <a:off x="8586146" y="1918522"/>
            <a:ext cx="1277495" cy="143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7"/>
              </a:lnSpc>
              <a:buNone/>
            </a:pPr>
            <a:r>
              <a:rPr lang="en-US" sz="1050" b="1" kern="0" spc="11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8299800" y="2161916"/>
            <a:ext cx="3832479" cy="2863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5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52.0%</a:t>
            </a:r>
            <a:endParaRPr lang="en-US" sz="2700" dirty="0"/>
          </a:p>
        </p:txBody>
      </p:sp>
      <p:sp>
        <p:nvSpPr>
          <p:cNvPr id="26" name="Text 10"/>
          <p:cNvSpPr/>
          <p:nvPr/>
        </p:nvSpPr>
        <p:spPr>
          <a:xfrm>
            <a:off x="8299800" y="2505532"/>
            <a:ext cx="11132462" cy="1145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02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capture actual churners (Target for intervention).</a:t>
            </a:r>
            <a:endParaRPr lang="en-US" sz="900" dirty="0"/>
          </a:p>
        </p:txBody>
      </p:sp>
      <p:sp>
        <p:nvSpPr>
          <p:cNvPr id="27" name="Text 11"/>
          <p:cNvSpPr/>
          <p:nvPr/>
        </p:nvSpPr>
        <p:spPr>
          <a:xfrm>
            <a:off x="744501" y="3307303"/>
            <a:ext cx="8942451" cy="2004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8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Features Influencing Churn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7403065" y="3307303"/>
            <a:ext cx="4653725" cy="2004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8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Reliability</a:t>
            </a:r>
            <a:endParaRPr lang="en-US" sz="1350" dirty="0"/>
          </a:p>
        </p:txBody>
      </p:sp>
      <p:sp>
        <p:nvSpPr>
          <p:cNvPr id="29" name="Text 13"/>
          <p:cNvSpPr/>
          <p:nvPr/>
        </p:nvSpPr>
        <p:spPr>
          <a:xfrm>
            <a:off x="7345796" y="3593649"/>
            <a:ext cx="4379978" cy="4571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0.88</a:t>
            </a:r>
            <a:endParaRPr lang="en-US" sz="3600" dirty="0"/>
          </a:p>
        </p:txBody>
      </p:sp>
      <p:sp>
        <p:nvSpPr>
          <p:cNvPr id="30" name="Text 14"/>
          <p:cNvSpPr/>
          <p:nvPr/>
        </p:nvSpPr>
        <p:spPr>
          <a:xfrm>
            <a:off x="8512658" y="3678994"/>
            <a:ext cx="1916242" cy="143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7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 SCORE</a:t>
            </a:r>
            <a:endParaRPr lang="en-US" sz="1050" dirty="0"/>
          </a:p>
        </p:txBody>
      </p:sp>
      <p:sp>
        <p:nvSpPr>
          <p:cNvPr id="31" name="Text 15"/>
          <p:cNvSpPr/>
          <p:nvPr/>
        </p:nvSpPr>
        <p:spPr>
          <a:xfrm>
            <a:off x="8512658" y="3815009"/>
            <a:ext cx="5748725" cy="1574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7"/>
              </a:lnSpc>
              <a:buNone/>
            </a:pPr>
            <a:r>
              <a:rPr lang="en-US" sz="105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discriminatory power</a:t>
            </a:r>
            <a:endParaRPr lang="en-US" sz="1050" dirty="0"/>
          </a:p>
        </p:txBody>
      </p:sp>
      <p:sp>
        <p:nvSpPr>
          <p:cNvPr id="32" name="Text 16"/>
          <p:cNvSpPr/>
          <p:nvPr/>
        </p:nvSpPr>
        <p:spPr>
          <a:xfrm>
            <a:off x="7517604" y="4165336"/>
            <a:ext cx="13555636" cy="143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7"/>
              </a:lnSpc>
              <a:buNone/>
            </a:pPr>
            <a:r>
              <a:rPr lang="en-US" sz="105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on 1,126 unseen customers with consistent performance.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7517604" y="4394413"/>
            <a:ext cx="11781338" cy="143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27"/>
              </a:lnSpc>
              <a:buNone/>
            </a:pPr>
            <a:r>
              <a:rPr lang="en-US" sz="105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 accounts for 52% of the model's decision logic.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7345796" y="5053010"/>
            <a:ext cx="4330768" cy="1431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7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TAKEAWAY</a:t>
            </a:r>
            <a:endParaRPr lang="en-US" sz="1050" dirty="0"/>
          </a:p>
        </p:txBody>
      </p:sp>
      <p:sp>
        <p:nvSpPr>
          <p:cNvPr id="35" name="Text 19"/>
          <p:cNvSpPr/>
          <p:nvPr/>
        </p:nvSpPr>
        <p:spPr>
          <a:xfrm>
            <a:off x="7345796" y="5253453"/>
            <a:ext cx="4330768" cy="2863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7"/>
              </a:lnSpc>
              <a:buNone/>
            </a:pPr>
            <a:r>
              <a:rPr lang="en-US" sz="105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identifies over half of future churners with high precision, allowing for surgical retention efforts rather than mass discounts.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01" y="463901"/>
            <a:ext cx="11264090" cy="73559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01" y="1570618"/>
            <a:ext cx="3589674" cy="414309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15" y="1818032"/>
            <a:ext cx="603071" cy="55341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21" y="1941739"/>
            <a:ext cx="355657" cy="2783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8359" y="1818032"/>
            <a:ext cx="927802" cy="2619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315" y="3152351"/>
            <a:ext cx="115975" cy="13337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315" y="3368838"/>
            <a:ext cx="115975" cy="1333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315" y="3585325"/>
            <a:ext cx="115975" cy="13337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315" y="4754983"/>
            <a:ext cx="3094847" cy="71131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0988" y="1570618"/>
            <a:ext cx="3589795" cy="414309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8402" y="1818032"/>
            <a:ext cx="247414" cy="47610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3300" y="1818032"/>
            <a:ext cx="920070" cy="26191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8402" y="3075034"/>
            <a:ext cx="115975" cy="13337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8402" y="3291521"/>
            <a:ext cx="115975" cy="13337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8402" y="3508008"/>
            <a:ext cx="115975" cy="13337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8402" y="4754983"/>
            <a:ext cx="3094967" cy="71131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8197" y="1570618"/>
            <a:ext cx="3589674" cy="4143093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5611" y="1818032"/>
            <a:ext cx="494827" cy="553419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9318" y="1941739"/>
            <a:ext cx="247413" cy="27834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52656" y="1818032"/>
            <a:ext cx="927802" cy="26191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611" y="3152351"/>
            <a:ext cx="115975" cy="13337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611" y="3368838"/>
            <a:ext cx="115975" cy="133372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611" y="3585325"/>
            <a:ext cx="115975" cy="133372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5611" y="4754983"/>
            <a:ext cx="3094847" cy="71131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3901" y="6084832"/>
            <a:ext cx="11264090" cy="309267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3901" y="6285856"/>
            <a:ext cx="92780" cy="9278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649461" y="463901"/>
            <a:ext cx="12166085" cy="4572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8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Segments</a:t>
            </a:r>
            <a:endParaRPr lang="en-US" sz="3600" dirty="0"/>
          </a:p>
        </p:txBody>
      </p:sp>
      <p:sp>
        <p:nvSpPr>
          <p:cNvPr id="30" name="Text 1"/>
          <p:cNvSpPr/>
          <p:nvPr/>
        </p:nvSpPr>
        <p:spPr>
          <a:xfrm>
            <a:off x="649461" y="983011"/>
            <a:ext cx="11078530" cy="2164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5"/>
              </a:lnSpc>
              <a:buNone/>
            </a:pPr>
            <a:r>
              <a:rPr lang="en-US" sz="1500" b="1" kern="0" spc="148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INTERVENTION FRAMEWORK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2971140" y="1818032"/>
            <a:ext cx="1535156" cy="261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~50% RISK</a:t>
            </a:r>
            <a:endParaRPr lang="en-US" sz="1050" dirty="0"/>
          </a:p>
        </p:txBody>
      </p:sp>
      <p:sp>
        <p:nvSpPr>
          <p:cNvPr id="32" name="Text 3"/>
          <p:cNvSpPr/>
          <p:nvPr/>
        </p:nvSpPr>
        <p:spPr>
          <a:xfrm>
            <a:off x="711315" y="2557011"/>
            <a:ext cx="6758948" cy="2474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8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Frustrated Newcomers</a:t>
            </a:r>
            <a:endParaRPr lang="en-US" sz="1800" dirty="0"/>
          </a:p>
        </p:txBody>
      </p:sp>
      <p:sp>
        <p:nvSpPr>
          <p:cNvPr id="33" name="Text 4"/>
          <p:cNvSpPr/>
          <p:nvPr/>
        </p:nvSpPr>
        <p:spPr>
          <a:xfrm>
            <a:off x="711315" y="2928132"/>
            <a:ext cx="3154168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18"/>
              </a:lnSpc>
              <a:buNone/>
            </a:pPr>
            <a:r>
              <a:rPr lang="en-US" sz="1050" b="1" kern="0" spc="5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PROFILE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889143" y="3144619"/>
            <a:ext cx="3811286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Tenure: 0-3 Months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889143" y="3361106"/>
            <a:ext cx="5256947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Filed at least 1 complaint</a:t>
            </a:r>
            <a:endParaRPr lang="en-US" sz="1050" dirty="0"/>
          </a:p>
        </p:txBody>
      </p:sp>
      <p:sp>
        <p:nvSpPr>
          <p:cNvPr id="36" name="Text 7"/>
          <p:cNvSpPr/>
          <p:nvPr/>
        </p:nvSpPr>
        <p:spPr>
          <a:xfrm>
            <a:off x="889143" y="3577593"/>
            <a:ext cx="5322658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onboarding failure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835021" y="4878690"/>
            <a:ext cx="2847433" cy="1237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4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38" name="Text 9"/>
          <p:cNvSpPr/>
          <p:nvPr/>
        </p:nvSpPr>
        <p:spPr>
          <a:xfrm>
            <a:off x="835021" y="5033324"/>
            <a:ext cx="2847433" cy="309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18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24h escalation protocol &amp; personalized service recovery.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6816080" y="1818032"/>
            <a:ext cx="1530938" cy="261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~25% RISK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4548402" y="2479695"/>
            <a:ext cx="6083053" cy="2474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8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Quietly Disengaged</a:t>
            </a:r>
            <a:endParaRPr lang="en-US" sz="1800" dirty="0"/>
          </a:p>
        </p:txBody>
      </p:sp>
      <p:sp>
        <p:nvSpPr>
          <p:cNvPr id="41" name="Text 12"/>
          <p:cNvSpPr/>
          <p:nvPr/>
        </p:nvSpPr>
        <p:spPr>
          <a:xfrm>
            <a:off x="4548402" y="2850815"/>
            <a:ext cx="3154168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18"/>
              </a:lnSpc>
              <a:buNone/>
            </a:pPr>
            <a:r>
              <a:rPr lang="en-US" sz="1050" b="1" kern="0" spc="5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PROFILE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4726231" y="3067302"/>
            <a:ext cx="4534116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cashback incentives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4726231" y="3283789"/>
            <a:ext cx="5125523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days since last order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4726231" y="3500276"/>
            <a:ext cx="4534116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Fading brand engagement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4672109" y="4878690"/>
            <a:ext cx="2847554" cy="1237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4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46" name="Text 17"/>
          <p:cNvSpPr/>
          <p:nvPr/>
        </p:nvSpPr>
        <p:spPr>
          <a:xfrm>
            <a:off x="4672109" y="5033324"/>
            <a:ext cx="2847554" cy="309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18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dynamic rewards &amp; targeted cashback re-activation offers.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10645435" y="1818032"/>
            <a:ext cx="1535156" cy="2619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~20% RISK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8385611" y="2557011"/>
            <a:ext cx="8110737" cy="2474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8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Confidently Dissatisfied</a:t>
            </a:r>
            <a:endParaRPr lang="en-US" sz="1800" dirty="0"/>
          </a:p>
        </p:txBody>
      </p:sp>
      <p:sp>
        <p:nvSpPr>
          <p:cNvPr id="49" name="Text 20"/>
          <p:cNvSpPr/>
          <p:nvPr/>
        </p:nvSpPr>
        <p:spPr>
          <a:xfrm>
            <a:off x="8385611" y="2928132"/>
            <a:ext cx="3154168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18"/>
              </a:lnSpc>
              <a:buNone/>
            </a:pPr>
            <a:r>
              <a:rPr lang="en-US" sz="1050" b="1" kern="0" spc="5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PROFILE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8563440" y="3144619"/>
            <a:ext cx="5322658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 Score: 3-4/5</a:t>
            </a:r>
            <a:endParaRPr lang="en-US" sz="1050" dirty="0"/>
          </a:p>
        </p:txBody>
      </p:sp>
      <p:sp>
        <p:nvSpPr>
          <p:cNvPr id="51" name="Text 22"/>
          <p:cNvSpPr/>
          <p:nvPr/>
        </p:nvSpPr>
        <p:spPr>
          <a:xfrm>
            <a:off x="8563440" y="3361106"/>
            <a:ext cx="5125523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formal complaints filed</a:t>
            </a:r>
            <a:endParaRPr lang="en-US" sz="1050" dirty="0"/>
          </a:p>
        </p:txBody>
      </p:sp>
      <p:sp>
        <p:nvSpPr>
          <p:cNvPr id="52" name="Text 23"/>
          <p:cNvSpPr/>
          <p:nvPr/>
        </p:nvSpPr>
        <p:spPr>
          <a:xfrm>
            <a:off x="8563440" y="3577593"/>
            <a:ext cx="5519794" cy="1546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18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Hidden "silent" churn intent</a:t>
            </a:r>
            <a:endParaRPr lang="en-US" sz="1050" dirty="0"/>
          </a:p>
        </p:txBody>
      </p:sp>
      <p:sp>
        <p:nvSpPr>
          <p:cNvPr id="53" name="Text 24"/>
          <p:cNvSpPr/>
          <p:nvPr/>
        </p:nvSpPr>
        <p:spPr>
          <a:xfrm>
            <a:off x="8509318" y="4878690"/>
            <a:ext cx="2847432" cy="1237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4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ACTION</a:t>
            </a:r>
            <a:endParaRPr lang="en-US" sz="900" dirty="0"/>
          </a:p>
        </p:txBody>
      </p:sp>
      <p:sp>
        <p:nvSpPr>
          <p:cNvPr id="54" name="Text 25"/>
          <p:cNvSpPr/>
          <p:nvPr/>
        </p:nvSpPr>
        <p:spPr>
          <a:xfrm>
            <a:off x="8509318" y="5033324"/>
            <a:ext cx="2847432" cy="309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18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Deep-dive surveys &amp; interviews to uncover non-obvious pain points.</a:t>
            </a:r>
            <a:endParaRPr lang="en-US" sz="1050" dirty="0"/>
          </a:p>
        </p:txBody>
      </p:sp>
      <p:sp>
        <p:nvSpPr>
          <p:cNvPr id="55" name="Text 26"/>
          <p:cNvSpPr/>
          <p:nvPr/>
        </p:nvSpPr>
        <p:spPr>
          <a:xfrm>
            <a:off x="680388" y="6270392"/>
            <a:ext cx="6026708" cy="1237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4"/>
              </a:lnSpc>
              <a:buNone/>
            </a:pPr>
            <a:r>
              <a:rPr lang="en-US" sz="900" b="1" kern="0" spc="17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RETENTION FRAMEWORK 2026</a:t>
            </a:r>
            <a:endParaRPr lang="en-US" sz="900" dirty="0"/>
          </a:p>
        </p:txBody>
      </p:sp>
      <p:sp>
        <p:nvSpPr>
          <p:cNvPr id="56" name="Text 27"/>
          <p:cNvSpPr/>
          <p:nvPr/>
        </p:nvSpPr>
        <p:spPr>
          <a:xfrm>
            <a:off x="8929124" y="6270392"/>
            <a:ext cx="8279683" cy="1237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4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Source: Decision Tree Model Feature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4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14500"/>
            <a:ext cx="109728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0972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8380" y="160972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161" y="1609725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5941" y="160972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4722" y="160972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3502" y="1609725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514600"/>
            <a:ext cx="3606701" cy="1866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501" y="2514600"/>
            <a:ext cx="3606850" cy="1866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7950" y="2514600"/>
            <a:ext cx="3606701" cy="1866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838700"/>
            <a:ext cx="112776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87082" y="5086350"/>
            <a:ext cx="9525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50770" y="5086350"/>
            <a:ext cx="9525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09708" y="5105400"/>
            <a:ext cx="1696492" cy="4191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66420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Implementation Roadmap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457200" y="9906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12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EXECUTION &amp; PERFORMANCE SCALING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533400" y="1905000"/>
            <a:ext cx="20116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1: SETUP</a:t>
            </a:r>
            <a:endParaRPr lang="en-US" sz="900" dirty="0"/>
          </a:p>
        </p:txBody>
      </p:sp>
      <p:sp>
        <p:nvSpPr>
          <p:cNvPr id="20" name="Text 3"/>
          <p:cNvSpPr/>
          <p:nvPr/>
        </p:nvSpPr>
        <p:spPr>
          <a:xfrm>
            <a:off x="2439888" y="1905000"/>
            <a:ext cx="2148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2: LAUNCH</a:t>
            </a:r>
            <a:endParaRPr lang="en-US" sz="900" dirty="0"/>
          </a:p>
        </p:txBody>
      </p:sp>
      <p:sp>
        <p:nvSpPr>
          <p:cNvPr id="21" name="Text 4"/>
          <p:cNvSpPr/>
          <p:nvPr/>
        </p:nvSpPr>
        <p:spPr>
          <a:xfrm>
            <a:off x="4483596" y="1905000"/>
            <a:ext cx="24231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3: OPTIMIZE</a:t>
            </a:r>
            <a:endParaRPr lang="en-US" sz="900" dirty="0"/>
          </a:p>
        </p:txBody>
      </p:sp>
      <p:sp>
        <p:nvSpPr>
          <p:cNvPr id="22" name="Text 5"/>
          <p:cNvSpPr/>
          <p:nvPr/>
        </p:nvSpPr>
        <p:spPr>
          <a:xfrm>
            <a:off x="6563469" y="19050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4: ANALYZE</a:t>
            </a:r>
            <a:endParaRPr lang="en-US" sz="900" dirty="0"/>
          </a:p>
        </p:txBody>
      </p:sp>
      <p:sp>
        <p:nvSpPr>
          <p:cNvPr id="23" name="Text 6"/>
          <p:cNvSpPr/>
          <p:nvPr/>
        </p:nvSpPr>
        <p:spPr>
          <a:xfrm>
            <a:off x="8648998" y="1905000"/>
            <a:ext cx="2148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5: REFINE</a:t>
            </a:r>
            <a:endParaRPr lang="en-US" sz="900" dirty="0"/>
          </a:p>
        </p:txBody>
      </p:sp>
      <p:sp>
        <p:nvSpPr>
          <p:cNvPr id="24" name="Text 7"/>
          <p:cNvSpPr/>
          <p:nvPr/>
        </p:nvSpPr>
        <p:spPr>
          <a:xfrm>
            <a:off x="10578405" y="1905000"/>
            <a:ext cx="2286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6: MEASURE</a:t>
            </a:r>
            <a:endParaRPr lang="en-US" sz="900" dirty="0"/>
          </a:p>
        </p:txBody>
      </p:sp>
      <p:sp>
        <p:nvSpPr>
          <p:cNvPr id="25" name="Text 8"/>
          <p:cNvSpPr/>
          <p:nvPr/>
        </p:nvSpPr>
        <p:spPr>
          <a:xfrm>
            <a:off x="685800" y="274320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kern="0" spc="54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SETUP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685800" y="3162300"/>
            <a:ext cx="31495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complaint escalation system (&lt;24h SLA)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685800" y="3657600"/>
            <a:ext cx="6080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support teams on new protocols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685800" y="3962400"/>
            <a:ext cx="62407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ML Model into CRM/Marketing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4521101" y="2743200"/>
            <a:ext cx="32232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kern="0" spc="54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LAUNCH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4521101" y="3162300"/>
            <a:ext cx="5974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90-day onboarding engagement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4521101" y="3467100"/>
            <a:ext cx="72009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 early warning alerts for High-Risk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4521101" y="37719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personalized welcome offers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8356550" y="2743200"/>
            <a:ext cx="3634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kern="0" spc="54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OPTIMIZE</a:t>
            </a:r>
            <a:endParaRPr lang="en-US" sz="1350" dirty="0"/>
          </a:p>
        </p:txBody>
      </p:sp>
      <p:sp>
        <p:nvSpPr>
          <p:cNvPr id="34" name="Text 17"/>
          <p:cNvSpPr/>
          <p:nvPr/>
        </p:nvSpPr>
        <p:spPr>
          <a:xfrm>
            <a:off x="8356550" y="31623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dynamic cashback rewards</a:t>
            </a:r>
            <a:endParaRPr lang="en-US" sz="1050" dirty="0"/>
          </a:p>
        </p:txBody>
      </p:sp>
      <p:sp>
        <p:nvSpPr>
          <p:cNvPr id="35" name="Text 18"/>
          <p:cNvSpPr/>
          <p:nvPr/>
        </p:nvSpPr>
        <p:spPr>
          <a:xfrm>
            <a:off x="8356550" y="3467100"/>
            <a:ext cx="5600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test reward tiers &amp; messaging</a:t>
            </a:r>
            <a:endParaRPr lang="en-US" sz="1050" dirty="0"/>
          </a:p>
        </p:txBody>
      </p:sp>
      <p:sp>
        <p:nvSpPr>
          <p:cNvPr id="36" name="Text 19"/>
          <p:cNvSpPr/>
          <p:nvPr/>
        </p:nvSpPr>
        <p:spPr>
          <a:xfrm>
            <a:off x="8356550" y="37719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complaint resolution speed</a:t>
            </a:r>
            <a:endParaRPr lang="en-US" sz="1050" dirty="0"/>
          </a:p>
        </p:txBody>
      </p:sp>
      <p:sp>
        <p:nvSpPr>
          <p:cNvPr id="37" name="Text 20"/>
          <p:cNvSpPr/>
          <p:nvPr/>
        </p:nvSpPr>
        <p:spPr>
          <a:xfrm>
            <a:off x="685800" y="5067300"/>
            <a:ext cx="39319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PROGRESS BY MONTH 6</a:t>
            </a:r>
            <a:endParaRPr lang="en-US" sz="900" dirty="0"/>
          </a:p>
        </p:txBody>
      </p:sp>
      <p:sp>
        <p:nvSpPr>
          <p:cNvPr id="38" name="Text 21"/>
          <p:cNvSpPr/>
          <p:nvPr/>
        </p:nvSpPr>
        <p:spPr>
          <a:xfrm>
            <a:off x="685800" y="5257800"/>
            <a:ext cx="8869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Reduction: </a:t>
            </a:r>
            <a:r>
              <a:rPr lang="en-US" sz="18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16.8% → &lt;12%</a:t>
            </a:r>
            <a:endParaRPr lang="en-US" sz="1800" dirty="0"/>
          </a:p>
        </p:txBody>
      </p:sp>
      <p:sp>
        <p:nvSpPr>
          <p:cNvPr id="39" name="Text 22"/>
          <p:cNvSpPr/>
          <p:nvPr/>
        </p:nvSpPr>
        <p:spPr>
          <a:xfrm>
            <a:off x="4973538" y="506730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Saved</a:t>
            </a:r>
            <a:endParaRPr lang="en-US" sz="1050" dirty="0"/>
          </a:p>
        </p:txBody>
      </p:sp>
      <p:sp>
        <p:nvSpPr>
          <p:cNvPr id="40" name="Text 23"/>
          <p:cNvSpPr/>
          <p:nvPr/>
        </p:nvSpPr>
        <p:spPr>
          <a:xfrm>
            <a:off x="5350728" y="5257800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~270</a:t>
            </a:r>
            <a:endParaRPr lang="en-US" sz="1800" dirty="0"/>
          </a:p>
        </p:txBody>
      </p:sp>
      <p:sp>
        <p:nvSpPr>
          <p:cNvPr id="41" name="Text 24"/>
          <p:cNvSpPr/>
          <p:nvPr/>
        </p:nvSpPr>
        <p:spPr>
          <a:xfrm>
            <a:off x="7224832" y="5067300"/>
            <a:ext cx="2720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Protected</a:t>
            </a:r>
            <a:endParaRPr lang="en-US" sz="1050" dirty="0"/>
          </a:p>
        </p:txBody>
      </p:sp>
      <p:sp>
        <p:nvSpPr>
          <p:cNvPr id="42" name="Text 25"/>
          <p:cNvSpPr/>
          <p:nvPr/>
        </p:nvSpPr>
        <p:spPr>
          <a:xfrm>
            <a:off x="6939082" y="5257800"/>
            <a:ext cx="3291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$800,000</a:t>
            </a:r>
            <a:endParaRPr lang="en-US" sz="1800" dirty="0"/>
          </a:p>
        </p:txBody>
      </p:sp>
      <p:sp>
        <p:nvSpPr>
          <p:cNvPr id="43" name="Text 26"/>
          <p:cNvSpPr/>
          <p:nvPr/>
        </p:nvSpPr>
        <p:spPr>
          <a:xfrm>
            <a:off x="10038308" y="5105400"/>
            <a:ext cx="1519635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READY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165" y="381000"/>
            <a:ext cx="2059335" cy="3429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09700"/>
            <a:ext cx="3530501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6383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312" y="179070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601" y="1409700"/>
            <a:ext cx="353065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9201" y="16383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1126" y="17907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9850" y="1409700"/>
            <a:ext cx="3530501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8450" y="16383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8950" y="17907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828925"/>
            <a:ext cx="1333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200400"/>
            <a:ext cx="5372100" cy="2628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3429000"/>
            <a:ext cx="49149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3886200"/>
            <a:ext cx="49149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4343400"/>
            <a:ext cx="49149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4800600"/>
            <a:ext cx="49149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981700"/>
            <a:ext cx="1689050" cy="6000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12950" y="5981700"/>
            <a:ext cx="1689050" cy="6000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4401" y="5981700"/>
            <a:ext cx="1689050" cy="60007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2828925"/>
            <a:ext cx="219075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3200400"/>
            <a:ext cx="5372100" cy="34385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0" y="3200400"/>
            <a:ext cx="5353050" cy="3438525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571500" y="381000"/>
            <a:ext cx="12755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Impact &amp; ROI Analysis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571500" y="838200"/>
            <a:ext cx="11887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Quantifying the Business Value of Customer Retention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9713565" y="381000"/>
            <a:ext cx="245404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OVERVIEW</a:t>
            </a:r>
            <a:endParaRPr lang="en-US" sz="1050" dirty="0"/>
          </a:p>
        </p:txBody>
      </p:sp>
      <p:sp>
        <p:nvSpPr>
          <p:cNvPr id="28" name="Text 3"/>
          <p:cNvSpPr/>
          <p:nvPr/>
        </p:nvSpPr>
        <p:spPr>
          <a:xfrm>
            <a:off x="1562100" y="1657350"/>
            <a:ext cx="3680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REVENUE RETAINED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1562100" y="1847850"/>
            <a:ext cx="49377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$800,000</a:t>
            </a:r>
            <a:endParaRPr lang="en-US" sz="2700" dirty="0"/>
          </a:p>
        </p:txBody>
      </p:sp>
      <p:sp>
        <p:nvSpPr>
          <p:cNvPr id="30" name="Text 5"/>
          <p:cNvSpPr/>
          <p:nvPr/>
        </p:nvSpPr>
        <p:spPr>
          <a:xfrm>
            <a:off x="5321201" y="1657350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SAVED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5321201" y="1847850"/>
            <a:ext cx="24688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~270</a:t>
            </a:r>
            <a:endParaRPr lang="en-US" sz="2700" dirty="0"/>
          </a:p>
        </p:txBody>
      </p:sp>
      <p:sp>
        <p:nvSpPr>
          <p:cNvPr id="32" name="Text 7"/>
          <p:cNvSpPr/>
          <p:nvPr/>
        </p:nvSpPr>
        <p:spPr>
          <a:xfrm>
            <a:off x="9080450" y="1657350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BENEFIT (PROFIT)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9080450" y="1847850"/>
            <a:ext cx="49377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$500,000</a:t>
            </a:r>
            <a:endParaRPr lang="en-US" sz="2700" dirty="0"/>
          </a:p>
        </p:txBody>
      </p:sp>
      <p:sp>
        <p:nvSpPr>
          <p:cNvPr id="34" name="Text 9"/>
          <p:cNvSpPr/>
          <p:nvPr/>
        </p:nvSpPr>
        <p:spPr>
          <a:xfrm>
            <a:off x="819150" y="2781300"/>
            <a:ext cx="5760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Intervention Costs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800100" y="3429000"/>
            <a:ext cx="4937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Escalation System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5057775" y="3429000"/>
            <a:ext cx="1889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$50,000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800100" y="3886200"/>
            <a:ext cx="48158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Onboarding Program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4981575" y="388620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$100,000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800100" y="4343400"/>
            <a:ext cx="4937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Cashback Incentives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4991100" y="434340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$120,000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800100" y="4800600"/>
            <a:ext cx="5120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Deep-Dive Surveys &amp; Research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5057775" y="4800600"/>
            <a:ext cx="1889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$30,000</a:t>
            </a:r>
            <a:endParaRPr lang="en-US" sz="1200" dirty="0"/>
          </a:p>
        </p:txBody>
      </p:sp>
      <p:sp>
        <p:nvSpPr>
          <p:cNvPr id="43" name="Text 18"/>
          <p:cNvSpPr/>
          <p:nvPr/>
        </p:nvSpPr>
        <p:spPr>
          <a:xfrm>
            <a:off x="800100" y="5353050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kern="0" spc="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INVESTMENT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4752975" y="5334000"/>
            <a:ext cx="274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$300,000</a:t>
            </a:r>
            <a:endParaRPr lang="en-US" sz="1500" dirty="0"/>
          </a:p>
        </p:txBody>
      </p:sp>
      <p:sp>
        <p:nvSpPr>
          <p:cNvPr id="45" name="Text 20"/>
          <p:cNvSpPr/>
          <p:nvPr/>
        </p:nvSpPr>
        <p:spPr>
          <a:xfrm>
            <a:off x="685800" y="6096000"/>
            <a:ext cx="146045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PAYBACK</a:t>
            </a:r>
            <a:endParaRPr lang="en-US" sz="750" dirty="0"/>
          </a:p>
        </p:txBody>
      </p:sp>
      <p:sp>
        <p:nvSpPr>
          <p:cNvPr id="46" name="Text 21"/>
          <p:cNvSpPr/>
          <p:nvPr/>
        </p:nvSpPr>
        <p:spPr>
          <a:xfrm>
            <a:off x="685800" y="6276975"/>
            <a:ext cx="1460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Months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2527250" y="6096000"/>
            <a:ext cx="146045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3-YEAR NPV</a:t>
            </a:r>
            <a:endParaRPr lang="en-US" sz="750" dirty="0"/>
          </a:p>
        </p:txBody>
      </p:sp>
      <p:sp>
        <p:nvSpPr>
          <p:cNvPr id="48" name="Text 23"/>
          <p:cNvSpPr/>
          <p:nvPr/>
        </p:nvSpPr>
        <p:spPr>
          <a:xfrm>
            <a:off x="2527250" y="6276975"/>
            <a:ext cx="1460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$1.2M</a:t>
            </a:r>
            <a:endParaRPr lang="en-US" sz="1050" dirty="0"/>
          </a:p>
        </p:txBody>
      </p:sp>
      <p:sp>
        <p:nvSpPr>
          <p:cNvPr id="49" name="Text 24"/>
          <p:cNvSpPr/>
          <p:nvPr/>
        </p:nvSpPr>
        <p:spPr>
          <a:xfrm>
            <a:off x="4368701" y="6096000"/>
            <a:ext cx="146045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</a:t>
            </a:r>
            <a:endParaRPr lang="en-US" sz="750" dirty="0"/>
          </a:p>
        </p:txBody>
      </p:sp>
      <p:sp>
        <p:nvSpPr>
          <p:cNvPr id="50" name="Text 25"/>
          <p:cNvSpPr/>
          <p:nvPr/>
        </p:nvSpPr>
        <p:spPr>
          <a:xfrm>
            <a:off x="4368701" y="6276975"/>
            <a:ext cx="14604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220%</a:t>
            </a:r>
            <a:endParaRPr lang="en-US" sz="1050" dirty="0"/>
          </a:p>
        </p:txBody>
      </p:sp>
      <p:sp>
        <p:nvSpPr>
          <p:cNvPr id="51" name="Text 26"/>
          <p:cNvSpPr/>
          <p:nvPr/>
        </p:nvSpPr>
        <p:spPr>
          <a:xfrm>
            <a:off x="6581775" y="27813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Waterfall Projection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190500" cy="19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66900"/>
            <a:ext cx="3082826" cy="13477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03835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6726" y="1866900"/>
            <a:ext cx="3082975" cy="13477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126" y="2038350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367088"/>
            <a:ext cx="3082826" cy="134778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538538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06726" y="3367088"/>
            <a:ext cx="3082975" cy="134778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9126" y="3538538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4500" y="14097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94500" y="1790700"/>
            <a:ext cx="4426000" cy="425603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6900" y="1943100"/>
            <a:ext cx="1777901" cy="400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4801" y="1943100"/>
            <a:ext cx="1215479" cy="400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40280" y="1943100"/>
            <a:ext cx="1127820" cy="400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46900" y="2343150"/>
            <a:ext cx="1777901" cy="43442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24801" y="2343150"/>
            <a:ext cx="1215479" cy="43442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40280" y="2343150"/>
            <a:ext cx="1127820" cy="43442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46900" y="2777579"/>
            <a:ext cx="1777901" cy="434429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24801" y="2777579"/>
            <a:ext cx="1215479" cy="43442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40280" y="2777579"/>
            <a:ext cx="1127820" cy="43442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46900" y="3212009"/>
            <a:ext cx="1777901" cy="434429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24801" y="3212009"/>
            <a:ext cx="1215479" cy="434429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40280" y="3212009"/>
            <a:ext cx="1127820" cy="434429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46900" y="3798838"/>
            <a:ext cx="4124325" cy="2095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6275338"/>
            <a:ext cx="11049000" cy="29527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828925" y="6461075"/>
            <a:ext cx="76200" cy="762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571500" y="381000"/>
            <a:ext cx="135788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Mitigation &amp; Success Metrics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571500" y="800100"/>
            <a:ext cx="1104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Safeguarding Implementation &amp; Tracking Strategic ROI</a:t>
            </a:r>
            <a:endParaRPr lang="en-US" sz="1350" dirty="0"/>
          </a:p>
        </p:txBody>
      </p:sp>
      <p:sp>
        <p:nvSpPr>
          <p:cNvPr id="31" name="Text 2"/>
          <p:cNvSpPr/>
          <p:nvPr/>
        </p:nvSpPr>
        <p:spPr>
          <a:xfrm>
            <a:off x="876300" y="1371600"/>
            <a:ext cx="6318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Management Matrix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952500" y="2019300"/>
            <a:ext cx="2720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Limitations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723900" y="2286000"/>
            <a:ext cx="33375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48% False Negative Rate</a:t>
            </a:r>
            <a:endParaRPr lang="en-US" sz="900" dirty="0"/>
          </a:p>
        </p:txBody>
      </p:sp>
      <p:sp>
        <p:nvSpPr>
          <p:cNvPr id="34" name="Text 5"/>
          <p:cNvSpPr/>
          <p:nvPr/>
        </p:nvSpPr>
        <p:spPr>
          <a:xfrm>
            <a:off x="876300" y="2514600"/>
            <a:ext cx="347853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Auto-flag tenure &lt; 3 months</a:t>
            </a:r>
            <a:endParaRPr lang="en-US" sz="825" dirty="0"/>
          </a:p>
        </p:txBody>
      </p:sp>
      <p:sp>
        <p:nvSpPr>
          <p:cNvPr id="35" name="Text 6"/>
          <p:cNvSpPr/>
          <p:nvPr/>
        </p:nvSpPr>
        <p:spPr>
          <a:xfrm>
            <a:off x="876300" y="2709863"/>
            <a:ext cx="402336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manual high-value reviews</a:t>
            </a:r>
            <a:endParaRPr lang="en-US" sz="825" dirty="0"/>
          </a:p>
        </p:txBody>
      </p:sp>
      <p:sp>
        <p:nvSpPr>
          <p:cNvPr id="36" name="Text 7"/>
          <p:cNvSpPr/>
          <p:nvPr/>
        </p:nvSpPr>
        <p:spPr>
          <a:xfrm>
            <a:off x="876300" y="2905125"/>
            <a:ext cx="339471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model retraining</a:t>
            </a:r>
            <a:endParaRPr lang="en-US" sz="825" dirty="0"/>
          </a:p>
        </p:txBody>
      </p:sp>
      <p:sp>
        <p:nvSpPr>
          <p:cNvPr id="37" name="Text 8"/>
          <p:cNvSpPr/>
          <p:nvPr/>
        </p:nvSpPr>
        <p:spPr>
          <a:xfrm>
            <a:off x="4225826" y="2019300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 Fatigue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3959126" y="2286000"/>
            <a:ext cx="3429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Engagement Decay</a:t>
            </a:r>
            <a:endParaRPr lang="en-US" sz="900" dirty="0"/>
          </a:p>
        </p:txBody>
      </p:sp>
      <p:sp>
        <p:nvSpPr>
          <p:cNvPr id="39" name="Text 10"/>
          <p:cNvSpPr/>
          <p:nvPr/>
        </p:nvSpPr>
        <p:spPr>
          <a:xfrm>
            <a:off x="4111526" y="2514600"/>
            <a:ext cx="490347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Personalized, segment-specific outreach</a:t>
            </a:r>
            <a:endParaRPr lang="en-US" sz="825" dirty="0"/>
          </a:p>
        </p:txBody>
      </p:sp>
      <p:sp>
        <p:nvSpPr>
          <p:cNvPr id="40" name="Text 11"/>
          <p:cNvSpPr/>
          <p:nvPr/>
        </p:nvSpPr>
        <p:spPr>
          <a:xfrm>
            <a:off x="4111526" y="2709863"/>
            <a:ext cx="440055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communication frequency caps</a:t>
            </a:r>
            <a:endParaRPr lang="en-US" sz="825" dirty="0"/>
          </a:p>
        </p:txBody>
      </p:sp>
      <p:sp>
        <p:nvSpPr>
          <p:cNvPr id="41" name="Text 12"/>
          <p:cNvSpPr/>
          <p:nvPr/>
        </p:nvSpPr>
        <p:spPr>
          <a:xfrm>
            <a:off x="4111526" y="2905125"/>
            <a:ext cx="364617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testing on messaging tone</a:t>
            </a:r>
            <a:endParaRPr lang="en-US" sz="825" dirty="0"/>
          </a:p>
        </p:txBody>
      </p:sp>
      <p:sp>
        <p:nvSpPr>
          <p:cNvPr id="42" name="Text 13"/>
          <p:cNvSpPr/>
          <p:nvPr/>
        </p:nvSpPr>
        <p:spPr>
          <a:xfrm>
            <a:off x="971550" y="3519488"/>
            <a:ext cx="2080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Abuse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723900" y="3786188"/>
            <a:ext cx="277802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Cashback Gaming Risk</a:t>
            </a:r>
            <a:endParaRPr lang="en-US" sz="900" dirty="0"/>
          </a:p>
        </p:txBody>
      </p:sp>
      <p:sp>
        <p:nvSpPr>
          <p:cNvPr id="44" name="Text 15"/>
          <p:cNvSpPr/>
          <p:nvPr/>
        </p:nvSpPr>
        <p:spPr>
          <a:xfrm>
            <a:off x="876300" y="4014788"/>
            <a:ext cx="465201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only model-predicted high-risk</a:t>
            </a:r>
            <a:endParaRPr lang="en-US" sz="825" dirty="0"/>
          </a:p>
        </p:txBody>
      </p:sp>
      <p:sp>
        <p:nvSpPr>
          <p:cNvPr id="45" name="Text 16"/>
          <p:cNvSpPr/>
          <p:nvPr/>
        </p:nvSpPr>
        <p:spPr>
          <a:xfrm>
            <a:off x="876300" y="4210050"/>
            <a:ext cx="452628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dynamic caps on reward frequency</a:t>
            </a:r>
            <a:endParaRPr lang="en-US" sz="825" dirty="0"/>
          </a:p>
        </p:txBody>
      </p:sp>
      <p:sp>
        <p:nvSpPr>
          <p:cNvPr id="46" name="Text 17"/>
          <p:cNvSpPr/>
          <p:nvPr/>
        </p:nvSpPr>
        <p:spPr>
          <a:xfrm>
            <a:off x="876300" y="4405313"/>
            <a:ext cx="402336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fraud detection patterns</a:t>
            </a:r>
            <a:endParaRPr lang="en-US" sz="825" dirty="0"/>
          </a:p>
        </p:txBody>
      </p:sp>
      <p:sp>
        <p:nvSpPr>
          <p:cNvPr id="47" name="Text 18"/>
          <p:cNvSpPr/>
          <p:nvPr/>
        </p:nvSpPr>
        <p:spPr>
          <a:xfrm>
            <a:off x="4168676" y="3519488"/>
            <a:ext cx="2400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 Response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3959126" y="3786188"/>
            <a:ext cx="27781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Feedback Depth</a:t>
            </a:r>
            <a:endParaRPr lang="en-US" sz="900" dirty="0"/>
          </a:p>
        </p:txBody>
      </p:sp>
      <p:sp>
        <p:nvSpPr>
          <p:cNvPr id="49" name="Text 20"/>
          <p:cNvSpPr/>
          <p:nvPr/>
        </p:nvSpPr>
        <p:spPr>
          <a:xfrm>
            <a:off x="4111526" y="4014788"/>
            <a:ext cx="435864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 completion ($1 credit)</a:t>
            </a:r>
            <a:endParaRPr lang="en-US" sz="825" dirty="0"/>
          </a:p>
        </p:txBody>
      </p:sp>
      <p:sp>
        <p:nvSpPr>
          <p:cNvPr id="50" name="Text 21"/>
          <p:cNvSpPr/>
          <p:nvPr/>
        </p:nvSpPr>
        <p:spPr>
          <a:xfrm>
            <a:off x="4111526" y="4210050"/>
            <a:ext cx="427482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Multi-channel deployment (SMS/App)</a:t>
            </a:r>
            <a:endParaRPr lang="en-US" sz="825" dirty="0"/>
          </a:p>
        </p:txBody>
      </p:sp>
      <p:sp>
        <p:nvSpPr>
          <p:cNvPr id="51" name="Text 22"/>
          <p:cNvSpPr/>
          <p:nvPr/>
        </p:nvSpPr>
        <p:spPr>
          <a:xfrm>
            <a:off x="4111526" y="4405313"/>
            <a:ext cx="4903470" cy="1571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VIP calls for high-value churn</a:t>
            </a:r>
            <a:endParaRPr lang="en-US" sz="825" dirty="0"/>
          </a:p>
        </p:txBody>
      </p:sp>
      <p:sp>
        <p:nvSpPr>
          <p:cNvPr id="52" name="Text 23"/>
          <p:cNvSpPr/>
          <p:nvPr/>
        </p:nvSpPr>
        <p:spPr>
          <a:xfrm>
            <a:off x="7499300" y="13716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Success KPIs</a:t>
            </a:r>
            <a:endParaRPr lang="en-US" sz="1500" dirty="0"/>
          </a:p>
        </p:txBody>
      </p:sp>
      <p:sp>
        <p:nvSpPr>
          <p:cNvPr id="53" name="Text 24"/>
          <p:cNvSpPr/>
          <p:nvPr/>
        </p:nvSpPr>
        <p:spPr>
          <a:xfrm>
            <a:off x="7461200" y="1943100"/>
            <a:ext cx="154930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900" dirty="0"/>
          </a:p>
        </p:txBody>
      </p:sp>
      <p:sp>
        <p:nvSpPr>
          <p:cNvPr id="54" name="Text 25"/>
          <p:cNvSpPr/>
          <p:nvPr/>
        </p:nvSpPr>
        <p:spPr>
          <a:xfrm>
            <a:off x="9239101" y="1943100"/>
            <a:ext cx="986879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900" dirty="0"/>
          </a:p>
        </p:txBody>
      </p:sp>
      <p:sp>
        <p:nvSpPr>
          <p:cNvPr id="55" name="Text 26"/>
          <p:cNvSpPr/>
          <p:nvPr/>
        </p:nvSpPr>
        <p:spPr>
          <a:xfrm>
            <a:off x="10454580" y="1943100"/>
            <a:ext cx="89922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900" dirty="0"/>
          </a:p>
        </p:txBody>
      </p:sp>
      <p:sp>
        <p:nvSpPr>
          <p:cNvPr id="56" name="Text 27"/>
          <p:cNvSpPr/>
          <p:nvPr/>
        </p:nvSpPr>
        <p:spPr>
          <a:xfrm>
            <a:off x="7461200" y="2343150"/>
            <a:ext cx="1864577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Churn</a:t>
            </a:r>
            <a:endParaRPr lang="en-US" sz="1080" dirty="0"/>
          </a:p>
        </p:txBody>
      </p:sp>
      <p:sp>
        <p:nvSpPr>
          <p:cNvPr id="57" name="Text 28"/>
          <p:cNvSpPr/>
          <p:nvPr/>
        </p:nvSpPr>
        <p:spPr>
          <a:xfrm>
            <a:off x="9239101" y="2343150"/>
            <a:ext cx="986879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16.8%</a:t>
            </a:r>
            <a:endParaRPr lang="en-US" sz="1080" dirty="0"/>
          </a:p>
        </p:txBody>
      </p:sp>
      <p:sp>
        <p:nvSpPr>
          <p:cNvPr id="58" name="Text 29"/>
          <p:cNvSpPr/>
          <p:nvPr/>
        </p:nvSpPr>
        <p:spPr>
          <a:xfrm>
            <a:off x="10454580" y="2343150"/>
            <a:ext cx="1181075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12.0%</a:t>
            </a:r>
            <a:endParaRPr lang="en-US" sz="1080" dirty="0"/>
          </a:p>
        </p:txBody>
      </p:sp>
      <p:sp>
        <p:nvSpPr>
          <p:cNvPr id="59" name="Text 30"/>
          <p:cNvSpPr/>
          <p:nvPr/>
        </p:nvSpPr>
        <p:spPr>
          <a:xfrm>
            <a:off x="7461200" y="2777579"/>
            <a:ext cx="2151435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at Risk</a:t>
            </a:r>
            <a:endParaRPr lang="en-US" sz="1080" dirty="0"/>
          </a:p>
        </p:txBody>
      </p:sp>
      <p:sp>
        <p:nvSpPr>
          <p:cNvPr id="60" name="Text 31"/>
          <p:cNvSpPr/>
          <p:nvPr/>
        </p:nvSpPr>
        <p:spPr>
          <a:xfrm>
            <a:off x="9239101" y="2777579"/>
            <a:ext cx="986879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$236K</a:t>
            </a:r>
            <a:endParaRPr lang="en-US" sz="1080" dirty="0"/>
          </a:p>
        </p:txBody>
      </p:sp>
      <p:sp>
        <p:nvSpPr>
          <p:cNvPr id="61" name="Text 32"/>
          <p:cNvSpPr/>
          <p:nvPr/>
        </p:nvSpPr>
        <p:spPr>
          <a:xfrm>
            <a:off x="10454580" y="2777579"/>
            <a:ext cx="1181075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$150K</a:t>
            </a:r>
            <a:endParaRPr lang="en-US" sz="1080" dirty="0"/>
          </a:p>
        </p:txBody>
      </p:sp>
      <p:sp>
        <p:nvSpPr>
          <p:cNvPr id="62" name="Text 33"/>
          <p:cNvSpPr/>
          <p:nvPr/>
        </p:nvSpPr>
        <p:spPr>
          <a:xfrm>
            <a:off x="7461200" y="3212009"/>
            <a:ext cx="2008006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1080" dirty="0"/>
          </a:p>
        </p:txBody>
      </p:sp>
      <p:sp>
        <p:nvSpPr>
          <p:cNvPr id="63" name="Text 34"/>
          <p:cNvSpPr/>
          <p:nvPr/>
        </p:nvSpPr>
        <p:spPr>
          <a:xfrm>
            <a:off x="9239101" y="3212009"/>
            <a:ext cx="986879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89.3%</a:t>
            </a:r>
            <a:endParaRPr lang="en-US" sz="1080" dirty="0"/>
          </a:p>
        </p:txBody>
      </p:sp>
      <p:sp>
        <p:nvSpPr>
          <p:cNvPr id="64" name="Text 35"/>
          <p:cNvSpPr/>
          <p:nvPr/>
        </p:nvSpPr>
        <p:spPr>
          <a:xfrm>
            <a:off x="10454580" y="3212009"/>
            <a:ext cx="1181075" cy="4344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85.0%</a:t>
            </a:r>
            <a:endParaRPr lang="en-US" sz="1080" dirty="0"/>
          </a:p>
        </p:txBody>
      </p:sp>
      <p:sp>
        <p:nvSpPr>
          <p:cNvPr id="65" name="Text 36"/>
          <p:cNvSpPr/>
          <p:nvPr/>
        </p:nvSpPr>
        <p:spPr>
          <a:xfrm>
            <a:off x="723900" y="6427738"/>
            <a:ext cx="32004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REVIEW: INTERVENTIONS</a:t>
            </a:r>
            <a:endParaRPr lang="en-US" sz="750" dirty="0"/>
          </a:p>
        </p:txBody>
      </p:sp>
      <p:sp>
        <p:nvSpPr>
          <p:cNvPr id="66" name="Text 37"/>
          <p:cNvSpPr/>
          <p:nvPr/>
        </p:nvSpPr>
        <p:spPr>
          <a:xfrm>
            <a:off x="2981325" y="6427738"/>
            <a:ext cx="29718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REVIEW: CHURN RATE</a:t>
            </a:r>
            <a:endParaRPr lang="en-US" sz="750" dirty="0"/>
          </a:p>
        </p:txBody>
      </p:sp>
      <p:sp>
        <p:nvSpPr>
          <p:cNvPr id="67" name="Text 38"/>
          <p:cNvSpPr/>
          <p:nvPr/>
        </p:nvSpPr>
        <p:spPr>
          <a:xfrm>
            <a:off x="9820275" y="6427738"/>
            <a:ext cx="42672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GENERATE DATE: 2026-02-15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86" y="1664647"/>
            <a:ext cx="227378" cy="22863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86" y="2101752"/>
            <a:ext cx="154030" cy="15231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86" y="2566593"/>
            <a:ext cx="154030" cy="15231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86" y="3031433"/>
            <a:ext cx="154030" cy="15231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021" y="1661667"/>
            <a:ext cx="5479867" cy="220042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734" y="1899359"/>
            <a:ext cx="198038" cy="2286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6734" y="2307126"/>
            <a:ext cx="5010442" cy="32272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5073" y="2321795"/>
            <a:ext cx="692103" cy="17603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6734" y="2805889"/>
            <a:ext cx="5010442" cy="32272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5073" y="2820559"/>
            <a:ext cx="692103" cy="17603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5073" y="3319322"/>
            <a:ext cx="692103" cy="17603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086" y="5440672"/>
            <a:ext cx="11311803" cy="1466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2943" y="5095938"/>
            <a:ext cx="146695" cy="14669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4320" y="5095938"/>
            <a:ext cx="146695" cy="14669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7762" y="5095938"/>
            <a:ext cx="146696" cy="14669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61279" y="5088802"/>
            <a:ext cx="164712" cy="14669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0086" y="6065731"/>
            <a:ext cx="11311803" cy="352069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40086" y="440086"/>
            <a:ext cx="19236680" cy="4571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kern="0" spc="-93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 &amp; </a:t>
            </a:r>
            <a:r>
              <a:rPr lang="en-US" sz="3600" kern="0" spc="-93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ACTION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440086" y="955925"/>
            <a:ext cx="18702321" cy="2053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5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the $800,000 Annual Revenue Protection Opportunity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755480" y="1661667"/>
            <a:ext cx="10330826" cy="2347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Actions (This Week)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711472" y="2072413"/>
            <a:ext cx="801528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Implementation Roadmap</a:t>
            </a:r>
            <a:endParaRPr lang="en-US" sz="1350" dirty="0"/>
          </a:p>
        </p:txBody>
      </p:sp>
      <p:sp>
        <p:nvSpPr>
          <p:cNvPr id="24" name="Text 4"/>
          <p:cNvSpPr/>
          <p:nvPr/>
        </p:nvSpPr>
        <p:spPr>
          <a:xfrm>
            <a:off x="711472" y="2273202"/>
            <a:ext cx="10043872" cy="146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 sign-off on the 90-day execution phases.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711472" y="2537254"/>
            <a:ext cx="6679406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Allocate Retention Budget</a:t>
            </a:r>
            <a:endParaRPr lang="en-US" sz="1350" dirty="0"/>
          </a:p>
        </p:txBody>
      </p:sp>
      <p:sp>
        <p:nvSpPr>
          <p:cNvPr id="26" name="Text 6"/>
          <p:cNvSpPr/>
          <p:nvPr/>
        </p:nvSpPr>
        <p:spPr>
          <a:xfrm>
            <a:off x="711472" y="2738043"/>
            <a:ext cx="12260451" cy="146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funds for complaint systems and cashback incentives.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711472" y="3002094"/>
            <a:ext cx="8015287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 Cross-Functional Team</a:t>
            </a:r>
            <a:endParaRPr lang="en-US" sz="1350" dirty="0"/>
          </a:p>
        </p:txBody>
      </p:sp>
      <p:sp>
        <p:nvSpPr>
          <p:cNvPr id="28" name="Text 8"/>
          <p:cNvSpPr/>
          <p:nvPr/>
        </p:nvSpPr>
        <p:spPr>
          <a:xfrm>
            <a:off x="711472" y="3202883"/>
            <a:ext cx="13507277" cy="146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owners from Marketing, Customer Success, and Data Science.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6792789" y="1896379"/>
            <a:ext cx="8549649" cy="2347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 Required Today</a:t>
            </a:r>
            <a:endParaRPr lang="en-US" sz="1800" dirty="0"/>
          </a:p>
        </p:txBody>
      </p:sp>
      <p:sp>
        <p:nvSpPr>
          <p:cNvPr id="30" name="Text 10"/>
          <p:cNvSpPr/>
          <p:nvPr/>
        </p:nvSpPr>
        <p:spPr>
          <a:xfrm>
            <a:off x="6506734" y="2307126"/>
            <a:ext cx="9796462" cy="2053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Approve Retention Program Budget?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10913090" y="2321795"/>
            <a:ext cx="715713" cy="176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b="1" kern="0" spc="93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6506734" y="2805889"/>
            <a:ext cx="9529286" cy="2053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Authorize Cross-Functional Team?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10913090" y="2820559"/>
            <a:ext cx="715713" cy="176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b="1" kern="0" spc="93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00" dirty="0"/>
          </a:p>
        </p:txBody>
      </p:sp>
      <p:sp>
        <p:nvSpPr>
          <p:cNvPr id="34" name="Text 14"/>
          <p:cNvSpPr/>
          <p:nvPr/>
        </p:nvSpPr>
        <p:spPr>
          <a:xfrm>
            <a:off x="6506734" y="3304653"/>
            <a:ext cx="10954226" cy="2053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17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Set Date for 30-Day Progress Review?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10913090" y="3319322"/>
            <a:ext cx="715713" cy="176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b="1" kern="0" spc="93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00" dirty="0"/>
          </a:p>
        </p:txBody>
      </p:sp>
      <p:sp>
        <p:nvSpPr>
          <p:cNvPr id="36" name="Text 16"/>
          <p:cNvSpPr/>
          <p:nvPr/>
        </p:nvSpPr>
        <p:spPr>
          <a:xfrm>
            <a:off x="440086" y="4714531"/>
            <a:ext cx="11311803" cy="1466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50" b="1" kern="0" spc="3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TIMELINE TO RESULTS</a:t>
            </a:r>
            <a:endParaRPr lang="en-US" sz="1050" dirty="0"/>
          </a:p>
        </p:txBody>
      </p:sp>
      <p:sp>
        <p:nvSpPr>
          <p:cNvPr id="37" name="Text 17"/>
          <p:cNvSpPr/>
          <p:nvPr/>
        </p:nvSpPr>
        <p:spPr>
          <a:xfrm>
            <a:off x="1246443" y="5315806"/>
            <a:ext cx="1840544" cy="1173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b="1" kern="0" spc="-47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1-2</a:t>
            </a:r>
            <a:endParaRPr lang="en-US" sz="900" dirty="0"/>
          </a:p>
        </p:txBody>
      </p:sp>
      <p:sp>
        <p:nvSpPr>
          <p:cNvPr id="38" name="Text 18"/>
          <p:cNvSpPr/>
          <p:nvPr/>
        </p:nvSpPr>
        <p:spPr>
          <a:xfrm>
            <a:off x="457273" y="5506685"/>
            <a:ext cx="2078036" cy="1427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&amp; LAUNCH</a:t>
            </a:r>
            <a:endParaRPr lang="en-US" sz="750" dirty="0"/>
          </a:p>
        </p:txBody>
      </p:sp>
      <p:sp>
        <p:nvSpPr>
          <p:cNvPr id="39" name="Text 19"/>
          <p:cNvSpPr/>
          <p:nvPr/>
        </p:nvSpPr>
        <p:spPr>
          <a:xfrm>
            <a:off x="4257325" y="5311283"/>
            <a:ext cx="1840544" cy="1173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b="1" kern="0" spc="-47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3-4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2855721" y="5506685"/>
            <a:ext cx="3413916" cy="1427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WINS (COMPLAINTS)</a:t>
            </a:r>
            <a:endParaRPr lang="en-US" sz="750" dirty="0"/>
          </a:p>
        </p:txBody>
      </p:sp>
      <p:sp>
        <p:nvSpPr>
          <p:cNvPr id="41" name="Text 21"/>
          <p:cNvSpPr/>
          <p:nvPr/>
        </p:nvSpPr>
        <p:spPr>
          <a:xfrm>
            <a:off x="7317339" y="5315806"/>
            <a:ext cx="1840544" cy="1173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b="1" kern="0" spc="-4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5-6</a:t>
            </a:r>
            <a:endParaRPr lang="en-US" sz="900" dirty="0"/>
          </a:p>
        </p:txBody>
      </p:sp>
      <p:sp>
        <p:nvSpPr>
          <p:cNvPr id="42" name="Text 22"/>
          <p:cNvSpPr/>
          <p:nvPr/>
        </p:nvSpPr>
        <p:spPr>
          <a:xfrm>
            <a:off x="6928577" y="5443643"/>
            <a:ext cx="1408273" cy="2855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CHURN REDUCTION</a:t>
            </a:r>
            <a:endParaRPr lang="en-US" sz="750" dirty="0"/>
          </a:p>
        </p:txBody>
      </p:sp>
      <p:sp>
        <p:nvSpPr>
          <p:cNvPr id="43" name="Text 23"/>
          <p:cNvSpPr/>
          <p:nvPr/>
        </p:nvSpPr>
        <p:spPr>
          <a:xfrm>
            <a:off x="10443975" y="5283518"/>
            <a:ext cx="1870234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$800K</a:t>
            </a:r>
            <a:endParaRPr lang="en-US" sz="1100" dirty="0"/>
          </a:p>
        </p:txBody>
      </p:sp>
      <p:sp>
        <p:nvSpPr>
          <p:cNvPr id="44" name="Text 24"/>
          <p:cNvSpPr/>
          <p:nvPr/>
        </p:nvSpPr>
        <p:spPr>
          <a:xfrm>
            <a:off x="10323486" y="5527886"/>
            <a:ext cx="1929605" cy="1427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IMPACT</a:t>
            </a:r>
            <a:endParaRPr lang="en-US" sz="750" dirty="0"/>
          </a:p>
        </p:txBody>
      </p:sp>
      <p:sp>
        <p:nvSpPr>
          <p:cNvPr id="45" name="Text 25"/>
          <p:cNvSpPr/>
          <p:nvPr/>
        </p:nvSpPr>
        <p:spPr>
          <a:xfrm>
            <a:off x="440086" y="6183087"/>
            <a:ext cx="3918577" cy="1173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 [</a:t>
            </a:r>
            <a:r>
              <a:rPr lang="en-US" sz="9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Souravdeep</a:t>
            </a: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Singh]</a:t>
            </a:r>
            <a:endParaRPr lang="en-US" sz="900" dirty="0"/>
          </a:p>
        </p:txBody>
      </p:sp>
      <p:sp>
        <p:nvSpPr>
          <p:cNvPr id="46" name="Text 26"/>
          <p:cNvSpPr/>
          <p:nvPr/>
        </p:nvSpPr>
        <p:spPr>
          <a:xfrm>
            <a:off x="440086" y="6300443"/>
            <a:ext cx="4809162" cy="1173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24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Email: Singh.s.deep800@gmail.com</a:t>
            </a:r>
            <a:endParaRPr lang="en-US" sz="900" dirty="0"/>
          </a:p>
        </p:txBody>
      </p:sp>
      <p:sp>
        <p:nvSpPr>
          <p:cNvPr id="47" name="Text 27"/>
          <p:cNvSpPr/>
          <p:nvPr/>
        </p:nvSpPr>
        <p:spPr>
          <a:xfrm>
            <a:off x="10561279" y="6212427"/>
            <a:ext cx="1190610" cy="337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-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</a:t>
            </a:r>
            <a:r>
              <a:rPr lang="en-US" sz="1500" b="1" kern="0" spc="-6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1309</Words>
  <Application>Microsoft Office PowerPoint</Application>
  <PresentationFormat>Widescreen</PresentationFormat>
  <Paragraphs>305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Sourav Singh</cp:lastModifiedBy>
  <cp:revision>3</cp:revision>
  <dcterms:created xsi:type="dcterms:W3CDTF">2026-02-14T22:26:23Z</dcterms:created>
  <dcterms:modified xsi:type="dcterms:W3CDTF">2026-02-14T22:39:40Z</dcterms:modified>
</cp:coreProperties>
</file>